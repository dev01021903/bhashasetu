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judges and mentors. Today, we are proud to present 'MediDecode' — an AI-Powered Prescription and Health Companion built for SIH 2026.</a:t>
            </a:r>
          </a:p>
          <a:p/>
          <a:p>
            <a:r>
              <a:t>Our mission is simple: 'Decode. Understand. Remember. Stay Safe.' Every day, millions of patients return from clinics unable to decipher doctor handwriting, confused by Latin abbreviations, or taking medicines with foods that neutralize their absorption. MediDecode solves this with a clinically-safe multimodal AI companion. Let's walk you through the problem, our architecture, and our product flow!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on Slide 2, we highlight the real crisis. Over 50% of chronic patients fail to follow instructions correctly. The problem is six-fold: 1) Doctors write under intense time pressure in dense cursive; 2) Medical terminology is unintelligible to laypeople; 3) Language barriers exclude regional language speakers; 4) Medicine timings are forgotten; 5) Hidden food-drug clashes occur daily; and 6) Discharge summaries are too long and dense. This leads to avoidable hospital readmissions and antibiotic resistance.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introduces MediDecode: Our platform is a complete patient journey from upload to daily reminder. Unlike generic consumer AI tools, MediDecode is built specifically for healthcare safety. Our core rule is ZERO GUESSING: If a doctor's cursive is smudged, our AI explicitly flags it in yellow/red with a verification alert. Notice our bottom three pillars: strict clinical guardrails, layperson simplification, and clear professional disclaimers.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walks through our 5-step workflow: Step 1: Patient uploads the slip. Step 2: Gemini Vision multimodal OCR reads the handwritten prescription. Step 3: Clinical entities — medicine name, dosage, frequency — are extracted into structured JSON. Step 4: The safety layer evaluates confidence and checks drug-food interactions. Step 5: Daily reminder alarms are created and populated on the dashboard. At the bottom, you can see our product lifecycle in six words: Upload, Decode, Understand, Check, Remind, Track.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5, we present our 8 core features. Notice how each feature targets a specific real-world friction point: from decoding cursive and converting Latin frequencies to 8:00 AM times, to our unique food guidance layer, 11 Indian languages, and discharge summary simplification. Every module is designed for ease of use by non-technical patients.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Slide 6 is one of MediDecode's biggest differentiators: our Food &amp; Medication Safety Engine. Consider this common real-world scenario: A doctor prescribes Ciprofloxacin. The patient takes it with a glass of milk. The calcium in the milk binds to the drug, neutralizing absorption by 70%. The patient thinks the antibiotic failed, when in reality it was food chelation! MediDecode categorizes foods into Green (Suitable), Yellow (Caution / Time separation), and Red (Avoid). And we prominently display a safety disclaimer encouraging patients to verify decisions with their doctor.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7, we present the patient-facing Smartphone UI. Notice how simple and uncluttered the interface is: At 9:00 AM, the patient confirms their morning dose with a single tap. The system immediately indicates that their next dose is Pantoprazole at 2:00 PM, reminding them to take it before lunch. We support four clear states: Taken, Next Dose, Upcoming, and Missed. This distraction-free design empowers elderly patients to use the app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Slide 8 addresses India's linguistic diversity. A prescription in English is ineffective if an elderly patient in Karnataka or Uttar Pradesh cannot understand whether to take it before or after food. Here, we demonstrate the exact same instruction translated into English, Hindi, and Kannada. Crucially, notice our safety standard: Standardized INN medicine names remain in Roman script, while the timing, dose, and food directions translate into the native script. This ensures the local chemist always knows the exact chemical entity while the patient understands the directions effortlessly.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9, we review our technical architecture. At the top is our end-to-end data pipeline: from user upload to Gemini Vision multimodal extraction, safety verification against our curated BNF database, multi-lingual simplification, and browser reminder dispatch. Notice our technology stack: We built with Next.js 15, React 19, TypeScript, and Supabase PostgreSQL with Row Level Security for patient privacy. We are transparent: Our core AI, scheduling, and food engines are live and tested, with Flutter and ABDM integration on our roadmap.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10, we contrast the Traditional Approach with MediDecode. The traditional method is passive and error-prone: difficult handwriting, obscure Latin abbreviations, English barriers, forgotten doses, food clashes, and dense discharge documents. MediDecode replaces this entire cycle with active digital intelligence: multimodal OCR with confidence scoring, plain-language clock times, 11 Indian languages, smart push reminders, curated food safety guidance, and 2-sentence discharge summaries. It transforms patient adherence from anxiety to clarity.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highlights our social value and community impact. Our mission is simple: 'MediDecode helps patients understand and follow healthcare instructions more confidently.' We empower five key groups: Elderly citizens who struggle with small print; family caregivers managing elderly parents from a distance; polypharmacy patients with multiple prescriptions; vernacular users across India; and post-surgical discharge patients who need clear home guidelines. This is healthcare technology with tangible human value.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on Slide 12: Our roadmap for MediDecode includes native voice readout for visually impaired patients, expanding to 22 Indian languages, smartwatch haptic alarms, and seamless integration with the Ayushman Bharat Digital Mission (ABDM). MediDecode is not just an academic project — it is a production-ready, safety-first healthcare companion. Remember our tagline: 'Decode. Understand. Remember. Stay Safe.' Thank you so much, and we are now excited to demonstrate our live product and answer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005840"/>
            <a:ext cx="6858000" cy="51206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100" b="1" i="0">
                <a:solidFill>
                  <a:srgbClr val="0D9488"/>
                </a:solidFill>
                <a:latin typeface="Segoe UI"/>
              </a:rPr>
              <a:t>SIH 2026 / HEALTHCARE AI INNOVATION</a:t>
            </a:r>
          </a:p>
          <a:p>
            <a:r>
              <a:rPr sz="4600" b="1" i="0">
                <a:solidFill>
                  <a:srgbClr val="0F172A"/>
                </a:solidFill>
                <a:latin typeface="Segoe UI"/>
              </a:rPr>
              <a:t>MediDecode</a:t>
            </a:r>
          </a:p>
          <a:p>
            <a:r>
              <a:rPr sz="1800" b="1" i="0">
                <a:solidFill>
                  <a:srgbClr val="0284C7"/>
                </a:solidFill>
                <a:latin typeface="Segoe UI"/>
              </a:rPr>
              <a:t>AI-Powered Prescription &amp; Health Companion</a:t>
            </a:r>
          </a:p>
          <a:p>
            <a:r>
              <a:rPr sz="1500" b="0" i="1">
                <a:solidFill>
                  <a:srgbClr val="0D9488"/>
                </a:solidFill>
                <a:latin typeface="Segoe UI"/>
              </a:rPr>
              <a:t>“Decode. Understand. Remember. Stay Safe.”</a:t>
            </a:r>
          </a:p>
          <a:p>
            <a:r>
              <a:rPr sz="1200" b="0" i="0">
                <a:solidFill>
                  <a:srgbClr val="1E293B"/>
                </a:solidFill>
                <a:latin typeface="Segoe UI"/>
              </a:rPr>
              <a:t>
• AI Vision &amp; Handwriting Decoder: Reads difficult clinic slips.</a:t>
            </a:r>
          </a:p>
          <a:p>
            <a:r>
              <a:rPr sz="1200" b="0" i="0">
                <a:solidFill>
                  <a:srgbClr val="1E293B"/>
                </a:solidFill>
                <a:latin typeface="Segoe UI"/>
              </a:rPr>
              <a:t>• Vernacular Translation: Clear instructions in 11 Indian languages.</a:t>
            </a:r>
          </a:p>
          <a:p>
            <a:r>
              <a:rPr sz="1200" b="0" i="0">
                <a:solidFill>
                  <a:srgbClr val="1E293B"/>
                </a:solidFill>
                <a:latin typeface="Segoe UI"/>
              </a:rPr>
              <a:t>• Food &amp; Medication Safety: Proactive warnings on everyday diet clashes.</a:t>
            </a:r>
          </a:p>
          <a:p>
            <a:r>
              <a:rPr sz="1200" b="0" i="0">
                <a:solidFill>
                  <a:srgbClr val="1E293B"/>
                </a:solidFill>
                <a:latin typeface="Segoe UI"/>
              </a:rPr>
              <a:t>• Smart Reminders &amp; Adherence: Converts Latin frequencies into clock alarms.</a:t>
            </a:r>
          </a:p>
          <a:p>
            <a:r>
              <a:rPr sz="1150" b="1" i="0">
                <a:solidFill>
                  <a:srgbClr val="D97706"/>
                </a:solidFill>
                <a:latin typeface="Segoe UI"/>
              </a:rPr>
              <a:t>
Presented by: Student Innovation Team | SIH 2026 Project Showcase</a:t>
            </a:r>
          </a:p>
        </p:txBody>
      </p:sp>
      <p:sp>
        <p:nvSpPr>
          <p:cNvPr id="5" name="Rounded Rectangle 4"/>
          <p:cNvSpPr/>
          <p:nvPr/>
        </p:nvSpPr>
        <p:spPr>
          <a:xfrm>
            <a:off x="7863840" y="1005840"/>
            <a:ext cx="3596335" cy="5120640"/>
          </a:xfrm>
          <a:prstGeom prst="roundRect">
            <a:avLst/>
          </a:prstGeom>
          <a:solidFill>
            <a:srgbClr val="F0FDFA"/>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200" b="1" i="0">
                <a:solidFill>
                  <a:srgbClr val="0D9488"/>
                </a:solidFill>
                <a:latin typeface="Segoe UI"/>
              </a:rPr>
              <a:t>📱 LIVE APP PREVIEW</a:t>
            </a:r>
          </a:p>
          <a:p>
            <a:r>
              <a:rPr sz="1200" b="1" i="0">
                <a:solidFill>
                  <a:srgbClr val="0F172A"/>
                </a:solidFill>
                <a:latin typeface="Segoe UI"/>
              </a:rPr>
              <a:t>
📷 Scanned Slip Decoded:</a:t>
            </a:r>
          </a:p>
          <a:p>
            <a:r>
              <a:rPr sz="1000" b="0" i="0">
                <a:solidFill>
                  <a:srgbClr val="2DD4BF"/>
                </a:solidFill>
                <a:latin typeface="Segoe UI"/>
              </a:rPr>
              <a:t>━━━━━━━━━━━━━━━━━━━</a:t>
            </a:r>
          </a:p>
          <a:p>
            <a:r>
              <a:rPr sz="1300" b="1" i="0">
                <a:solidFill>
                  <a:srgbClr val="0F172A"/>
                </a:solidFill>
                <a:latin typeface="Segoe UI"/>
              </a:rPr>
              <a:t>💊 Amoxicillin 500 mg</a:t>
            </a:r>
          </a:p>
          <a:p>
            <a:r>
              <a:rPr sz="1100" b="0" i="0">
                <a:solidFill>
                  <a:srgbClr val="1E293B"/>
                </a:solidFill>
                <a:latin typeface="Segoe UI"/>
              </a:rPr>
              <a:t>• Timing: After Meals</a:t>
            </a:r>
          </a:p>
          <a:p>
            <a:r>
              <a:rPr sz="1100" b="0" i="0">
                <a:solidFill>
                  <a:srgbClr val="1E293B"/>
                </a:solidFill>
                <a:latin typeface="Segoe UI"/>
              </a:rPr>
              <a:t>• Frequency: Twice Daily (8 AM / 8 PM)</a:t>
            </a:r>
          </a:p>
          <a:p>
            <a:r>
              <a:rPr sz="1100" b="1" i="0">
                <a:solidFill>
                  <a:srgbClr val="059669"/>
                </a:solidFill>
                <a:latin typeface="Segoe UI"/>
              </a:rPr>
              <a:t>• Confidence: 94% Verified 🟢</a:t>
            </a:r>
          </a:p>
          <a:p>
            <a:r>
              <a:rPr sz="1200" b="1" i="0">
                <a:solidFill>
                  <a:srgbClr val="0F172A"/>
                </a:solidFill>
                <a:latin typeface="Segoe UI"/>
              </a:rPr>
              <a:t>
🥗 Food Safety Alert:</a:t>
            </a:r>
          </a:p>
          <a:p>
            <a:r>
              <a:rPr sz="1100" b="0" i="0">
                <a:solidFill>
                  <a:srgbClr val="1E293B"/>
                </a:solidFill>
                <a:latin typeface="Segoe UI"/>
              </a:rPr>
              <a:t>• Separate from dairy (milk/curd) by 2 hrs.</a:t>
            </a:r>
          </a:p>
          <a:p>
            <a:r>
              <a:rPr sz="1200" b="1" i="0">
                <a:solidFill>
                  <a:srgbClr val="0F172A"/>
                </a:solidFill>
                <a:latin typeface="Segoe UI"/>
              </a:rPr>
              <a:t>
🌐 Regional Language:</a:t>
            </a:r>
          </a:p>
          <a:p>
            <a:r>
              <a:rPr sz="1150" b="1" i="0">
                <a:solidFill>
                  <a:srgbClr val="1E3A8A"/>
                </a:solidFill>
                <a:latin typeface="Segoe UI"/>
              </a:rPr>
              <a:t>• भोजन के बाद दिन में दो बार लें।</a:t>
            </a:r>
          </a:p>
          <a:p>
            <a:pPr algn="ctr"/>
            <a:r>
              <a:rPr sz="1100" b="1" i="0">
                <a:solidFill>
                  <a:srgbClr val="059669"/>
                </a:solidFill>
                <a:latin typeface="Segoe UI"/>
              </a:rPr>
              <a:t>
✔ Zero-Guessing Clinical Safety Rule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3108960" cy="292608"/>
          </a:xfrm>
          <a:prstGeom prst="roundRect">
            <a:avLst/>
          </a:prstGeom>
          <a:solidFill>
            <a:srgbClr val="F0FDFA"/>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i="0">
                <a:solidFill>
                  <a:srgbClr val="0D9488"/>
                </a:solidFill>
                <a:latin typeface="Segoe UI"/>
              </a:rPr>
              <a:t>HEALTHCARE CHALLENGE</a:t>
            </a:r>
          </a:p>
        </p:txBody>
      </p:sp>
      <p:sp>
        <p:nvSpPr>
          <p:cNvPr id="5" name="TextBox 4"/>
          <p:cNvSpPr txBox="1"/>
          <p:nvPr/>
        </p:nvSpPr>
        <p:spPr>
          <a:xfrm>
            <a:off x="731520" y="640080"/>
            <a:ext cx="10728655" cy="777240"/>
          </a:xfrm>
          <a:prstGeom prst="rect">
            <a:avLst/>
          </a:prstGeom>
          <a:noFill/>
        </p:spPr>
        <p:txBody>
          <a:bodyPr wrap="square">
            <a:spAutoFit/>
          </a:bodyPr>
          <a:lstStyle/>
          <a:p>
            <a:r>
              <a:rPr sz="2600" b="1" i="0">
                <a:solidFill>
                  <a:srgbClr val="0F172A"/>
                </a:solidFill>
                <a:latin typeface="Segoe UI"/>
              </a:rPr>
              <a:t>Healthcare Instructions Shouldn't Be Difficult to Understand</a:t>
            </a:r>
          </a:p>
          <a:p>
            <a:r>
              <a:rPr sz="1250" b="0" i="0">
                <a:solidFill>
                  <a:srgbClr val="475569"/>
                </a:solidFill>
                <a:latin typeface="Segoe UI"/>
              </a:rPr>
              <a:t>Patients and caregivers struggle daily with complex, unreadable, and foreign medical documents.</a:t>
            </a:r>
          </a:p>
        </p:txBody>
      </p:sp>
      <p:sp>
        <p:nvSpPr>
          <p:cNvPr id="6" name="Rounded Rectangle 5"/>
          <p:cNvSpPr/>
          <p:nvPr/>
        </p:nvSpPr>
        <p:spPr>
          <a:xfrm>
            <a:off x="731520" y="1600200"/>
            <a:ext cx="3401568" cy="2103120"/>
          </a:xfrm>
          <a:prstGeom prst="roundRect">
            <a:avLst/>
          </a:prstGeom>
          <a:solidFill>
            <a:srgbClr val="FFF1F2"/>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50" b="1" i="0">
                <a:solidFill>
                  <a:srgbClr val="0F172A"/>
                </a:solidFill>
                <a:latin typeface="Segoe UI"/>
              </a:rPr>
              <a:t>✍️  Difficult Handwritten Prescriptions</a:t>
            </a:r>
          </a:p>
          <a:p>
            <a:r>
              <a:rPr sz="1100" b="0" i="0">
                <a:solidFill>
                  <a:srgbClr val="1E293B"/>
                </a:solidFill>
                <a:latin typeface="Segoe UI"/>
              </a:rPr>
              <a:t>
Fast cursive shorthand, smudged inks, and illegible drug names create severe misinterpretation risks for patients and pharmacies.</a:t>
            </a:r>
          </a:p>
        </p:txBody>
      </p:sp>
      <p:sp>
        <p:nvSpPr>
          <p:cNvPr id="7" name="Rounded Rectangle 6"/>
          <p:cNvSpPr/>
          <p:nvPr/>
        </p:nvSpPr>
        <p:spPr>
          <a:xfrm>
            <a:off x="4389120" y="1600200"/>
            <a:ext cx="3401568" cy="210312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50" b="1" i="0">
                <a:solidFill>
                  <a:srgbClr val="0F172A"/>
                </a:solidFill>
                <a:latin typeface="Segoe UI"/>
              </a:rPr>
              <a:t>🧬  Complex Medical Terminology</a:t>
            </a:r>
          </a:p>
          <a:p>
            <a:r>
              <a:rPr sz="1100" b="0" i="0">
                <a:solidFill>
                  <a:srgbClr val="1E293B"/>
                </a:solidFill>
                <a:latin typeface="Segoe UI"/>
              </a:rPr>
              <a:t>
Clinical jargon like 'Cholecystectomy', 'NPO', or 'Dyslipidemia' leaves patients completely in the dark about their actual diagnosis.</a:t>
            </a:r>
          </a:p>
        </p:txBody>
      </p:sp>
      <p:sp>
        <p:nvSpPr>
          <p:cNvPr id="8" name="Rounded Rectangle 7"/>
          <p:cNvSpPr/>
          <p:nvPr/>
        </p:nvSpPr>
        <p:spPr>
          <a:xfrm>
            <a:off x="8046720" y="1600200"/>
            <a:ext cx="3401568" cy="2103120"/>
          </a:xfrm>
          <a:prstGeom prst="roundRect">
            <a:avLst/>
          </a:prstGeom>
          <a:solidFill>
            <a:srgbClr val="EFF6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50" b="1" i="0">
                <a:solidFill>
                  <a:srgbClr val="0F172A"/>
                </a:solidFill>
                <a:latin typeface="Segoe UI"/>
              </a:rPr>
              <a:t>🌐  Severe Language Barriers</a:t>
            </a:r>
          </a:p>
          <a:p>
            <a:r>
              <a:rPr sz="1100" b="0" i="0">
                <a:solidFill>
                  <a:srgbClr val="1E293B"/>
                </a:solidFill>
                <a:latin typeface="Segoe UI"/>
              </a:rPr>
              <a:t>
Over 80% of prescriptions are written in English or Latin, creating huge communication gaps for non-English speaking families across India.</a:t>
            </a:r>
          </a:p>
        </p:txBody>
      </p:sp>
      <p:sp>
        <p:nvSpPr>
          <p:cNvPr id="9" name="Rounded Rectangle 8"/>
          <p:cNvSpPr/>
          <p:nvPr/>
        </p:nvSpPr>
        <p:spPr>
          <a:xfrm>
            <a:off x="731520" y="3977639"/>
            <a:ext cx="3401568" cy="2103120"/>
          </a:xfrm>
          <a:prstGeom prst="roundRect">
            <a:avLst/>
          </a:prstGeom>
          <a:solidFill>
            <a:srgbClr val="F0FD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50" b="1" i="0">
                <a:solidFill>
                  <a:srgbClr val="0F172A"/>
                </a:solidFill>
                <a:latin typeface="Segoe UI"/>
              </a:rPr>
              <a:t>⏰  Forgotten Medicine Timings</a:t>
            </a:r>
          </a:p>
          <a:p>
            <a:r>
              <a:rPr sz="1100" b="0" i="0">
                <a:solidFill>
                  <a:srgbClr val="1E293B"/>
                </a:solidFill>
                <a:latin typeface="Segoe UI"/>
              </a:rPr>
              <a:t>
Confusing dosage frequencies (OD, BD, TID, HS) lead to skipped doses, double dosing, or prematurely stopping antibiotic courses.</a:t>
            </a:r>
          </a:p>
        </p:txBody>
      </p:sp>
      <p:sp>
        <p:nvSpPr>
          <p:cNvPr id="10" name="Rounded Rectangle 9"/>
          <p:cNvSpPr/>
          <p:nvPr/>
        </p:nvSpPr>
        <p:spPr>
          <a:xfrm>
            <a:off x="4389120" y="3977639"/>
            <a:ext cx="3401568" cy="210312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50" b="1" i="0">
                <a:solidFill>
                  <a:srgbClr val="0F172A"/>
                </a:solidFill>
                <a:latin typeface="Segoe UI"/>
              </a:rPr>
              <a:t>🥗  Confusion About Food &amp; Medicine</a:t>
            </a:r>
          </a:p>
          <a:p>
            <a:r>
              <a:rPr sz="1100" b="0" i="0">
                <a:solidFill>
                  <a:srgbClr val="1E293B"/>
                </a:solidFill>
                <a:latin typeface="Segoe UI"/>
              </a:rPr>
              <a:t>
Patients unknowingly take antibiotics with milk (neutralizing absorption) or statins with grapefruit, triggering severe adverse effects.</a:t>
            </a:r>
          </a:p>
        </p:txBody>
      </p:sp>
      <p:sp>
        <p:nvSpPr>
          <p:cNvPr id="11" name="Rounded Rectangle 10"/>
          <p:cNvSpPr/>
          <p:nvPr/>
        </p:nvSpPr>
        <p:spPr>
          <a:xfrm>
            <a:off x="8046720" y="3977639"/>
            <a:ext cx="3401568" cy="2103120"/>
          </a:xfrm>
          <a:prstGeom prst="roundRect">
            <a:avLst/>
          </a:prstGeom>
          <a:solidFill>
            <a:srgbClr val="FFF1F2"/>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50" b="1" i="0">
                <a:solidFill>
                  <a:srgbClr val="0F172A"/>
                </a:solidFill>
                <a:latin typeface="Segoe UI"/>
              </a:rPr>
              <a:t>📑  Dense Discharge Summaries</a:t>
            </a:r>
          </a:p>
          <a:p>
            <a:r>
              <a:rPr sz="1100" b="0" i="0">
                <a:solidFill>
                  <a:srgbClr val="1E293B"/>
                </a:solidFill>
                <a:latin typeface="Segoe UI"/>
              </a:rPr>
              <a:t>
Multi-page post-op hospital summaries overwhelm patients with clinical codes instead of simple, actionable home recovery instructions.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3108960" cy="292608"/>
          </a:xfrm>
          <a:prstGeom prst="roundRect">
            <a:avLst/>
          </a:prstGeom>
          <a:solidFill>
            <a:srgbClr val="F0FDFA"/>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i="0">
                <a:solidFill>
                  <a:srgbClr val="0D9488"/>
                </a:solidFill>
                <a:latin typeface="Segoe UI"/>
              </a:rPr>
              <a:t>OUR INNOVATION</a:t>
            </a:r>
          </a:p>
        </p:txBody>
      </p:sp>
      <p:sp>
        <p:nvSpPr>
          <p:cNvPr id="5" name="TextBox 4"/>
          <p:cNvSpPr txBox="1"/>
          <p:nvPr/>
        </p:nvSpPr>
        <p:spPr>
          <a:xfrm>
            <a:off x="731520" y="640080"/>
            <a:ext cx="10728655" cy="777240"/>
          </a:xfrm>
          <a:prstGeom prst="rect">
            <a:avLst/>
          </a:prstGeom>
          <a:noFill/>
        </p:spPr>
        <p:txBody>
          <a:bodyPr wrap="square">
            <a:spAutoFit/>
          </a:bodyPr>
          <a:lstStyle/>
          <a:p>
            <a:r>
              <a:rPr sz="2600" b="1" i="0">
                <a:solidFill>
                  <a:srgbClr val="0F172A"/>
                </a:solidFill>
                <a:latin typeface="Segoe UI"/>
              </a:rPr>
              <a:t>Meet MediDecode</a:t>
            </a:r>
          </a:p>
          <a:p>
            <a:r>
              <a:rPr sz="1250" b="0" i="0">
                <a:solidFill>
                  <a:srgbClr val="475569"/>
                </a:solidFill>
                <a:latin typeface="Segoe UI"/>
              </a:rPr>
              <a:t>An end-to-end intelligent platform bridging clinical documents and daily recovery.</a:t>
            </a:r>
          </a:p>
        </p:txBody>
      </p:sp>
      <p:sp>
        <p:nvSpPr>
          <p:cNvPr id="6" name="Rounded Rectangle 5"/>
          <p:cNvSpPr/>
          <p:nvPr/>
        </p:nvSpPr>
        <p:spPr>
          <a:xfrm>
            <a:off x="731520" y="1645920"/>
            <a:ext cx="1691640" cy="16459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100" b="1" i="0">
                <a:solidFill>
                  <a:srgbClr val="0D9488"/>
                </a:solidFill>
                <a:latin typeface="Segoe UI"/>
              </a:rPr>
              <a:t>STEP 01</a:t>
            </a:r>
          </a:p>
          <a:p>
            <a:r>
              <a:rPr sz="1300" b="1" i="0">
                <a:solidFill>
                  <a:srgbClr val="0F172A"/>
                </a:solidFill>
                <a:latin typeface="Segoe UI"/>
              </a:rPr>
              <a:t>📷 Upload</a:t>
            </a:r>
          </a:p>
          <a:p>
            <a:r>
              <a:rPr sz="1000" b="0" i="0">
                <a:solidFill>
                  <a:srgbClr val="475569"/>
                </a:solidFill>
                <a:latin typeface="Segoe UI"/>
              </a:rPr>
              <a:t>
Prescription or Discharge Slip</a:t>
            </a:r>
          </a:p>
        </p:txBody>
      </p:sp>
      <p:sp>
        <p:nvSpPr>
          <p:cNvPr id="7" name="Rounded Rectangle 6"/>
          <p:cNvSpPr/>
          <p:nvPr/>
        </p:nvSpPr>
        <p:spPr>
          <a:xfrm>
            <a:off x="2532888" y="1645920"/>
            <a:ext cx="1691640" cy="16459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100" b="1" i="0">
                <a:solidFill>
                  <a:srgbClr val="0D9488"/>
                </a:solidFill>
                <a:latin typeface="Segoe UI"/>
              </a:rPr>
              <a:t>STEP 02</a:t>
            </a:r>
          </a:p>
          <a:p>
            <a:r>
              <a:rPr sz="1300" b="1" i="0">
                <a:solidFill>
                  <a:srgbClr val="0F172A"/>
                </a:solidFill>
                <a:latin typeface="Segoe UI"/>
              </a:rPr>
              <a:t>🤖 AI Vision</a:t>
            </a:r>
          </a:p>
          <a:p>
            <a:r>
              <a:rPr sz="1000" b="0" i="0">
                <a:solidFill>
                  <a:srgbClr val="475569"/>
                </a:solidFill>
                <a:latin typeface="Segoe UI"/>
              </a:rPr>
              <a:t>
Multimodal OCR &amp; Extraction</a:t>
            </a:r>
          </a:p>
        </p:txBody>
      </p:sp>
      <p:sp>
        <p:nvSpPr>
          <p:cNvPr id="8" name="Rounded Rectangle 7"/>
          <p:cNvSpPr/>
          <p:nvPr/>
        </p:nvSpPr>
        <p:spPr>
          <a:xfrm>
            <a:off x="4334256" y="1645920"/>
            <a:ext cx="1691640" cy="16459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100" b="1" i="0">
                <a:solidFill>
                  <a:srgbClr val="0D9488"/>
                </a:solidFill>
                <a:latin typeface="Segoe UI"/>
              </a:rPr>
              <a:t>STEP 03</a:t>
            </a:r>
          </a:p>
          <a:p>
            <a:r>
              <a:rPr sz="1300" b="1" i="0">
                <a:solidFill>
                  <a:srgbClr val="0F172A"/>
                </a:solidFill>
                <a:latin typeface="Segoe UI"/>
              </a:rPr>
              <a:t>📋 Plan</a:t>
            </a:r>
          </a:p>
          <a:p>
            <a:r>
              <a:rPr sz="1000" b="0" i="0">
                <a:solidFill>
                  <a:srgbClr val="475569"/>
                </a:solidFill>
                <a:latin typeface="Segoe UI"/>
              </a:rPr>
              <a:t>
Structured Dosing &amp; Clock Times</a:t>
            </a:r>
          </a:p>
        </p:txBody>
      </p:sp>
      <p:sp>
        <p:nvSpPr>
          <p:cNvPr id="9" name="Rounded Rectangle 8"/>
          <p:cNvSpPr/>
          <p:nvPr/>
        </p:nvSpPr>
        <p:spPr>
          <a:xfrm>
            <a:off x="6135624" y="1645920"/>
            <a:ext cx="1691640" cy="16459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100" b="1" i="0">
                <a:solidFill>
                  <a:srgbClr val="0D9488"/>
                </a:solidFill>
                <a:latin typeface="Segoe UI"/>
              </a:rPr>
              <a:t>STEP 04</a:t>
            </a:r>
          </a:p>
          <a:p>
            <a:r>
              <a:rPr sz="1300" b="1" i="0">
                <a:solidFill>
                  <a:srgbClr val="0F172A"/>
                </a:solidFill>
                <a:latin typeface="Segoe UI"/>
              </a:rPr>
              <a:t>🍎 Food Safety</a:t>
            </a:r>
          </a:p>
          <a:p>
            <a:r>
              <a:rPr sz="1000" b="0" i="0">
                <a:solidFill>
                  <a:srgbClr val="475569"/>
                </a:solidFill>
                <a:latin typeface="Segoe UI"/>
              </a:rPr>
              <a:t>
Eat / Limit / Avoid Guidance</a:t>
            </a:r>
          </a:p>
        </p:txBody>
      </p:sp>
      <p:sp>
        <p:nvSpPr>
          <p:cNvPr id="10" name="Rounded Rectangle 9"/>
          <p:cNvSpPr/>
          <p:nvPr/>
        </p:nvSpPr>
        <p:spPr>
          <a:xfrm>
            <a:off x="7936992" y="1645920"/>
            <a:ext cx="1691640" cy="16459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100" b="1" i="0">
                <a:solidFill>
                  <a:srgbClr val="0D9488"/>
                </a:solidFill>
                <a:latin typeface="Segoe UI"/>
              </a:rPr>
              <a:t>STEP 05</a:t>
            </a:r>
          </a:p>
          <a:p>
            <a:r>
              <a:rPr sz="1300" b="1" i="0">
                <a:solidFill>
                  <a:srgbClr val="0F172A"/>
                </a:solidFill>
                <a:latin typeface="Segoe UI"/>
              </a:rPr>
              <a:t>🌐 Vernacular</a:t>
            </a:r>
          </a:p>
          <a:p>
            <a:r>
              <a:rPr sz="1000" b="0" i="0">
                <a:solidFill>
                  <a:srgbClr val="475569"/>
                </a:solidFill>
                <a:latin typeface="Segoe UI"/>
              </a:rPr>
              <a:t>
11 Indian Native Languages</a:t>
            </a:r>
          </a:p>
        </p:txBody>
      </p:sp>
      <p:sp>
        <p:nvSpPr>
          <p:cNvPr id="11" name="Rounded Rectangle 10"/>
          <p:cNvSpPr/>
          <p:nvPr/>
        </p:nvSpPr>
        <p:spPr>
          <a:xfrm>
            <a:off x="9738360" y="1645920"/>
            <a:ext cx="1691640" cy="16459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100" b="1" i="0">
                <a:solidFill>
                  <a:srgbClr val="0D9488"/>
                </a:solidFill>
                <a:latin typeface="Segoe UI"/>
              </a:rPr>
              <a:t>STEP 06</a:t>
            </a:r>
          </a:p>
          <a:p>
            <a:r>
              <a:rPr sz="1300" b="1" i="0">
                <a:solidFill>
                  <a:srgbClr val="0F172A"/>
                </a:solidFill>
                <a:latin typeface="Segoe UI"/>
              </a:rPr>
              <a:t>🔔 Reminders</a:t>
            </a:r>
          </a:p>
          <a:p>
            <a:r>
              <a:rPr sz="1000" b="0" i="0">
                <a:solidFill>
                  <a:srgbClr val="475569"/>
                </a:solidFill>
                <a:latin typeface="Segoe UI"/>
              </a:rPr>
              <a:t>
Smart Alarms &amp; Dashboard</a:t>
            </a:r>
          </a:p>
        </p:txBody>
      </p:sp>
      <p:sp>
        <p:nvSpPr>
          <p:cNvPr id="12" name="Rounded Rectangle 11"/>
          <p:cNvSpPr/>
          <p:nvPr/>
        </p:nvSpPr>
        <p:spPr>
          <a:xfrm>
            <a:off x="731520" y="3566160"/>
            <a:ext cx="3383280" cy="2560320"/>
          </a:xfrm>
          <a:prstGeom prst="roundRect">
            <a:avLst/>
          </a:prstGeom>
          <a:solidFill>
            <a:srgbClr val="F0FD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500" b="1" i="0">
                <a:solidFill>
                  <a:srgbClr val="0F172A"/>
                </a:solidFill>
                <a:latin typeface="Segoe UI"/>
              </a:rPr>
              <a:t>🛡️ Strict Healthcare Safety</a:t>
            </a:r>
          </a:p>
          <a:p>
            <a:r>
              <a:rPr sz="1200" b="0" i="0">
                <a:solidFill>
                  <a:srgbClr val="1E293B"/>
                </a:solidFill>
                <a:latin typeface="Segoe UI"/>
              </a:rPr>
              <a:t>
Never invents or hallucinates medicine names. Unclear handwriting is flagged with confidence scores and user verification alerts.</a:t>
            </a:r>
          </a:p>
        </p:txBody>
      </p:sp>
      <p:sp>
        <p:nvSpPr>
          <p:cNvPr id="13" name="Rounded Rectangle 12"/>
          <p:cNvSpPr/>
          <p:nvPr/>
        </p:nvSpPr>
        <p:spPr>
          <a:xfrm>
            <a:off x="4389120" y="3566160"/>
            <a:ext cx="3383280" cy="2560320"/>
          </a:xfrm>
          <a:prstGeom prst="roundRect">
            <a:avLst/>
          </a:prstGeom>
          <a:solidFill>
            <a:srgbClr val="EFF6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500" b="1" i="0">
                <a:solidFill>
                  <a:srgbClr val="0F172A"/>
                </a:solidFill>
                <a:latin typeface="Segoe UI"/>
              </a:rPr>
              <a:t>🧠 Layperson Simplification</a:t>
            </a:r>
          </a:p>
          <a:p>
            <a:r>
              <a:rPr sz="1200" b="0" i="0">
                <a:solidFill>
                  <a:srgbClr val="1E293B"/>
                </a:solidFill>
                <a:latin typeface="Segoe UI"/>
              </a:rPr>
              <a:t>
'Explain this to me' feature translates surgical notes and clinical terms into 2-sentence conversational language.</a:t>
            </a:r>
          </a:p>
        </p:txBody>
      </p:sp>
      <p:sp>
        <p:nvSpPr>
          <p:cNvPr id="14" name="Rounded Rectangle 13"/>
          <p:cNvSpPr/>
          <p:nvPr/>
        </p:nvSpPr>
        <p:spPr>
          <a:xfrm>
            <a:off x="8046720" y="3566160"/>
            <a:ext cx="3383280" cy="2560320"/>
          </a:xfrm>
          <a:prstGeom prst="roundRect">
            <a:avLst/>
          </a:prstGeom>
          <a:solidFill>
            <a:srgbClr val="ECFDF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500" b="1" i="0">
                <a:solidFill>
                  <a:srgbClr val="0F172A"/>
                </a:solidFill>
                <a:latin typeface="Segoe UI"/>
              </a:rPr>
              <a:t>🤝 Informational Companion</a:t>
            </a:r>
          </a:p>
          <a:p>
            <a:r>
              <a:rPr sz="1200" b="0" i="0">
                <a:solidFill>
                  <a:srgbClr val="1E293B"/>
                </a:solidFill>
                <a:latin typeface="Segoe UI"/>
              </a:rPr>
              <a:t>
Clearly reminds patients to verify important medication decisions with licensed doctors and pharmacists.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3108960" cy="292608"/>
          </a:xfrm>
          <a:prstGeom prst="roundRect">
            <a:avLst/>
          </a:prstGeom>
          <a:solidFill>
            <a:srgbClr val="F0FDFA"/>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i="0">
                <a:solidFill>
                  <a:srgbClr val="0D9488"/>
                </a:solidFill>
                <a:latin typeface="Segoe UI"/>
              </a:rPr>
              <a:t>SYSTEM WORKFLOW</a:t>
            </a:r>
          </a:p>
        </p:txBody>
      </p:sp>
      <p:sp>
        <p:nvSpPr>
          <p:cNvPr id="5" name="TextBox 4"/>
          <p:cNvSpPr txBox="1"/>
          <p:nvPr/>
        </p:nvSpPr>
        <p:spPr>
          <a:xfrm>
            <a:off x="731520" y="640080"/>
            <a:ext cx="10728655" cy="777240"/>
          </a:xfrm>
          <a:prstGeom prst="rect">
            <a:avLst/>
          </a:prstGeom>
          <a:noFill/>
        </p:spPr>
        <p:txBody>
          <a:bodyPr wrap="square">
            <a:spAutoFit/>
          </a:bodyPr>
          <a:lstStyle/>
          <a:p>
            <a:r>
              <a:rPr sz="2600" b="1" i="0">
                <a:solidFill>
                  <a:srgbClr val="0F172A"/>
                </a:solidFill>
                <a:latin typeface="Segoe UI"/>
              </a:rPr>
              <a:t>How It Works: 5-Step Clinical Intelligence Flow</a:t>
            </a:r>
          </a:p>
          <a:p>
            <a:r>
              <a:rPr sz="1250" b="0" i="0">
                <a:solidFill>
                  <a:srgbClr val="475569"/>
                </a:solidFill>
                <a:latin typeface="Segoe UI"/>
              </a:rPr>
              <a:t>From an unreadable paper slip to a personalized daily recovery companion.</a:t>
            </a:r>
          </a:p>
        </p:txBody>
      </p:sp>
      <p:sp>
        <p:nvSpPr>
          <p:cNvPr id="6" name="Rounded Rectangle 5"/>
          <p:cNvSpPr/>
          <p:nvPr/>
        </p:nvSpPr>
        <p:spPr>
          <a:xfrm>
            <a:off x="731520" y="1691640"/>
            <a:ext cx="1965960" cy="3931920"/>
          </a:xfrm>
          <a:prstGeom prst="roundRect">
            <a:avLst/>
          </a:prstGeom>
          <a:solidFill>
            <a:srgbClr val="EFF6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100" b="1" i="0">
                <a:solidFill>
                  <a:srgbClr val="0284C7"/>
                </a:solidFill>
                <a:latin typeface="Segoe UI"/>
              </a:rPr>
              <a:t>STEP 01</a:t>
            </a:r>
          </a:p>
          <a:p>
            <a:r>
              <a:rPr sz="2800" b="0" i="0">
                <a:solidFill>
                  <a:srgbClr val="0F172A"/>
                </a:solidFill>
                <a:latin typeface="Segoe UI"/>
              </a:rPr>
              <a:t>
📷</a:t>
            </a:r>
          </a:p>
          <a:p>
            <a:r>
              <a:rPr sz="1400" b="1" i="0">
                <a:solidFill>
                  <a:srgbClr val="0F172A"/>
                </a:solidFill>
                <a:latin typeface="Segoe UI"/>
              </a:rPr>
              <a:t>Upload Prescription</a:t>
            </a:r>
          </a:p>
          <a:p>
            <a:r>
              <a:rPr sz="1100" b="0" i="0">
                <a:solidFill>
                  <a:srgbClr val="1E293B"/>
                </a:solidFill>
                <a:latin typeface="Segoe UI"/>
              </a:rPr>
              <a:t>
User uploads image or PDF slip via mobile camera, file browser, or gallery.</a:t>
            </a:r>
          </a:p>
        </p:txBody>
      </p:sp>
      <p:sp>
        <p:nvSpPr>
          <p:cNvPr id="7" name="Right Arrow 6"/>
          <p:cNvSpPr/>
          <p:nvPr/>
        </p:nvSpPr>
        <p:spPr>
          <a:xfrm>
            <a:off x="2734056" y="3474720"/>
            <a:ext cx="146304" cy="201168"/>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916936" y="1691640"/>
            <a:ext cx="1965960" cy="3931920"/>
          </a:xfrm>
          <a:prstGeom prst="roundRect">
            <a:avLst/>
          </a:prstGeom>
          <a:solidFill>
            <a:srgbClr val="F0FD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100" b="1" i="0">
                <a:solidFill>
                  <a:srgbClr val="0D9488"/>
                </a:solidFill>
                <a:latin typeface="Segoe UI"/>
              </a:rPr>
              <a:t>STEP 02</a:t>
            </a:r>
          </a:p>
          <a:p>
            <a:r>
              <a:rPr sz="2800" b="0" i="0">
                <a:solidFill>
                  <a:srgbClr val="0F172A"/>
                </a:solidFill>
                <a:latin typeface="Segoe UI"/>
              </a:rPr>
              <a:t>
👁️</a:t>
            </a:r>
          </a:p>
          <a:p>
            <a:r>
              <a:rPr sz="1400" b="1" i="0">
                <a:solidFill>
                  <a:srgbClr val="0F172A"/>
                </a:solidFill>
                <a:latin typeface="Segoe UI"/>
              </a:rPr>
              <a:t>AI Vision Reads It</a:t>
            </a:r>
          </a:p>
          <a:p>
            <a:r>
              <a:rPr sz="1100" b="0" i="0">
                <a:solidFill>
                  <a:srgbClr val="1E293B"/>
                </a:solidFill>
                <a:latin typeface="Segoe UI"/>
              </a:rPr>
              <a:t>
Multimodal Gemini Vision scans handwriting, printed text, doctor stamps, and dates.</a:t>
            </a:r>
          </a:p>
        </p:txBody>
      </p:sp>
      <p:sp>
        <p:nvSpPr>
          <p:cNvPr id="9" name="Right Arrow 8"/>
          <p:cNvSpPr/>
          <p:nvPr/>
        </p:nvSpPr>
        <p:spPr>
          <a:xfrm>
            <a:off x="4919472" y="3474720"/>
            <a:ext cx="146304" cy="201168"/>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02352" y="1691640"/>
            <a:ext cx="1965960" cy="39319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100" b="1" i="0">
                <a:solidFill>
                  <a:srgbClr val="0D9488"/>
                </a:solidFill>
                <a:latin typeface="Segoe UI"/>
              </a:rPr>
              <a:t>STEP 03</a:t>
            </a:r>
          </a:p>
          <a:p>
            <a:r>
              <a:rPr sz="2800" b="0" i="0">
                <a:solidFill>
                  <a:srgbClr val="0F172A"/>
                </a:solidFill>
                <a:latin typeface="Segoe UI"/>
              </a:rPr>
              <a:t>
💊</a:t>
            </a:r>
          </a:p>
          <a:p>
            <a:r>
              <a:rPr sz="1400" b="1" i="0">
                <a:solidFill>
                  <a:srgbClr val="0F172A"/>
                </a:solidFill>
                <a:latin typeface="Segoe UI"/>
              </a:rPr>
              <a:t>Extract Medicines</a:t>
            </a:r>
          </a:p>
          <a:p>
            <a:r>
              <a:rPr sz="1100" b="0" i="0">
                <a:solidFill>
                  <a:srgbClr val="1E293B"/>
                </a:solidFill>
                <a:latin typeface="Segoe UI"/>
              </a:rPr>
              <a:t>
Parses generic name, strength, route, frequency, and exact course duration.</a:t>
            </a:r>
          </a:p>
        </p:txBody>
      </p:sp>
      <p:sp>
        <p:nvSpPr>
          <p:cNvPr id="11" name="Right Arrow 10"/>
          <p:cNvSpPr/>
          <p:nvPr/>
        </p:nvSpPr>
        <p:spPr>
          <a:xfrm>
            <a:off x="7104888" y="3474720"/>
            <a:ext cx="146304" cy="201168"/>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287768" y="1691640"/>
            <a:ext cx="1965960" cy="393192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100" b="1" i="0">
                <a:solidFill>
                  <a:srgbClr val="D97706"/>
                </a:solidFill>
                <a:latin typeface="Segoe UI"/>
              </a:rPr>
              <a:t>STEP 04</a:t>
            </a:r>
          </a:p>
          <a:p>
            <a:r>
              <a:rPr sz="2800" b="0" i="0">
                <a:solidFill>
                  <a:srgbClr val="0F172A"/>
                </a:solidFill>
                <a:latin typeface="Segoe UI"/>
              </a:rPr>
              <a:t>
🛡️</a:t>
            </a:r>
          </a:p>
          <a:p>
            <a:r>
              <a:rPr sz="1400" b="1" i="0">
                <a:solidFill>
                  <a:srgbClr val="0F172A"/>
                </a:solidFill>
                <a:latin typeface="Segoe UI"/>
              </a:rPr>
              <a:t>Safety &amp; Language Layer</a:t>
            </a:r>
          </a:p>
          <a:p>
            <a:r>
              <a:rPr sz="1100" b="0" i="0">
                <a:solidFill>
                  <a:srgbClr val="1E293B"/>
                </a:solidFill>
                <a:latin typeface="Segoe UI"/>
              </a:rPr>
              <a:t>
Cross-checks food interactions, translates directions, and evaluates confidence.</a:t>
            </a:r>
          </a:p>
        </p:txBody>
      </p:sp>
      <p:sp>
        <p:nvSpPr>
          <p:cNvPr id="13" name="Right Arrow 12"/>
          <p:cNvSpPr/>
          <p:nvPr/>
        </p:nvSpPr>
        <p:spPr>
          <a:xfrm>
            <a:off x="9290304" y="3474720"/>
            <a:ext cx="146304" cy="201168"/>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473184" y="1691640"/>
            <a:ext cx="1965960" cy="3931920"/>
          </a:xfrm>
          <a:prstGeom prst="roundRect">
            <a:avLst/>
          </a:prstGeom>
          <a:solidFill>
            <a:srgbClr val="ECFDF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100" b="1" i="0">
                <a:solidFill>
                  <a:srgbClr val="059669"/>
                </a:solidFill>
                <a:latin typeface="Segoe UI"/>
              </a:rPr>
              <a:t>STEP 05</a:t>
            </a:r>
          </a:p>
          <a:p>
            <a:r>
              <a:rPr sz="2800" b="0" i="0">
                <a:solidFill>
                  <a:srgbClr val="0F172A"/>
                </a:solidFill>
                <a:latin typeface="Segoe UI"/>
              </a:rPr>
              <a:t>
🔔</a:t>
            </a:r>
          </a:p>
          <a:p>
            <a:r>
              <a:rPr sz="1400" b="1" i="0">
                <a:solidFill>
                  <a:srgbClr val="0F172A"/>
                </a:solidFill>
                <a:latin typeface="Segoe UI"/>
              </a:rPr>
              <a:t>Generate Reminders</a:t>
            </a:r>
          </a:p>
          <a:p>
            <a:r>
              <a:rPr sz="1100" b="0" i="0">
                <a:solidFill>
                  <a:srgbClr val="1E293B"/>
                </a:solidFill>
                <a:latin typeface="Segoe UI"/>
              </a:rPr>
              <a:t>
Constructs wall-clock dose alarms, food timing alerts, and adherence dashboard.</a:t>
            </a:r>
          </a:p>
        </p:txBody>
      </p:sp>
      <p:sp>
        <p:nvSpPr>
          <p:cNvPr id="15" name="Rounded Rectangle 14"/>
          <p:cNvSpPr/>
          <p:nvPr/>
        </p:nvSpPr>
        <p:spPr>
          <a:xfrm>
            <a:off x="731520" y="5806440"/>
            <a:ext cx="10728655" cy="5943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0D9488"/>
                </a:solidFill>
                <a:latin typeface="Segoe UI"/>
              </a:rPr>
              <a:t>PRODUCT LIFECYCLE:   UPLOAD  ➔  DECODE  ➔  UNDERSTAND  ➔  CHECK  ➔  REMIND  ➔  TRACK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3108960" cy="292608"/>
          </a:xfrm>
          <a:prstGeom prst="roundRect">
            <a:avLst/>
          </a:prstGeom>
          <a:solidFill>
            <a:srgbClr val="F0FDFA"/>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i="0">
                <a:solidFill>
                  <a:srgbClr val="0D9488"/>
                </a:solidFill>
                <a:latin typeface="Segoe UI"/>
              </a:rPr>
              <a:t>PLATFORM CAPABILITIES</a:t>
            </a:r>
          </a:p>
        </p:txBody>
      </p:sp>
      <p:sp>
        <p:nvSpPr>
          <p:cNvPr id="5" name="TextBox 4"/>
          <p:cNvSpPr txBox="1"/>
          <p:nvPr/>
        </p:nvSpPr>
        <p:spPr>
          <a:xfrm>
            <a:off x="731520" y="640080"/>
            <a:ext cx="10728655" cy="777240"/>
          </a:xfrm>
          <a:prstGeom prst="rect">
            <a:avLst/>
          </a:prstGeom>
          <a:noFill/>
        </p:spPr>
        <p:txBody>
          <a:bodyPr wrap="square">
            <a:spAutoFit/>
          </a:bodyPr>
          <a:lstStyle/>
          <a:p>
            <a:r>
              <a:rPr sz="2600" b="1" i="0">
                <a:solidFill>
                  <a:srgbClr val="0F172A"/>
                </a:solidFill>
                <a:latin typeface="Segoe UI"/>
              </a:rPr>
              <a:t>Core Features of MediDecode</a:t>
            </a:r>
          </a:p>
          <a:p>
            <a:r>
              <a:rPr sz="1250" b="0" i="0">
                <a:solidFill>
                  <a:srgbClr val="475569"/>
                </a:solidFill>
                <a:latin typeface="Segoe UI"/>
              </a:rPr>
              <a:t>Engineered to deliver comprehensive clinical clarity and high user adoption.</a:t>
            </a:r>
          </a:p>
        </p:txBody>
      </p:sp>
      <p:sp>
        <p:nvSpPr>
          <p:cNvPr id="6" name="Rounded Rectangle 5"/>
          <p:cNvSpPr/>
          <p:nvPr/>
        </p:nvSpPr>
        <p:spPr>
          <a:xfrm>
            <a:off x="731520" y="1691640"/>
            <a:ext cx="2542032" cy="21031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b="1" i="0">
                <a:solidFill>
                  <a:srgbClr val="0F172A"/>
                </a:solidFill>
                <a:latin typeface="Segoe UI"/>
              </a:rPr>
              <a:t>🔍  AI Prescription Scanner</a:t>
            </a:r>
          </a:p>
          <a:p>
            <a:r>
              <a:rPr sz="1050" b="0" i="0">
                <a:solidFill>
                  <a:srgbClr val="1E293B"/>
                </a:solidFill>
                <a:latin typeface="Segoe UI"/>
              </a:rPr>
              <a:t>
Scans clinic slips, doctor notes, and stamped slips with specialized vision prompts.</a:t>
            </a:r>
          </a:p>
        </p:txBody>
      </p:sp>
      <p:sp>
        <p:nvSpPr>
          <p:cNvPr id="7" name="Rounded Rectangle 6"/>
          <p:cNvSpPr/>
          <p:nvPr/>
        </p:nvSpPr>
        <p:spPr>
          <a:xfrm>
            <a:off x="3456432" y="1691640"/>
            <a:ext cx="2542032" cy="210312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b="1" i="0">
                <a:solidFill>
                  <a:srgbClr val="0F172A"/>
                </a:solidFill>
                <a:latin typeface="Segoe UI"/>
              </a:rPr>
              <a:t>💊  Medicine Decoder</a:t>
            </a:r>
          </a:p>
          <a:p>
            <a:r>
              <a:rPr sz="1050" b="0" i="0">
                <a:solidFill>
                  <a:srgbClr val="1E293B"/>
                </a:solidFill>
                <a:latin typeface="Segoe UI"/>
              </a:rPr>
              <a:t>
Standardizes brand names into International Nonproprietary Names (INN) with strength &amp; route.</a:t>
            </a:r>
          </a:p>
        </p:txBody>
      </p:sp>
      <p:sp>
        <p:nvSpPr>
          <p:cNvPr id="8" name="Rounded Rectangle 7"/>
          <p:cNvSpPr/>
          <p:nvPr/>
        </p:nvSpPr>
        <p:spPr>
          <a:xfrm>
            <a:off x="6181344" y="1691640"/>
            <a:ext cx="2542032" cy="210312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b="1" i="0">
                <a:solidFill>
                  <a:srgbClr val="0F172A"/>
                </a:solidFill>
                <a:latin typeface="Segoe UI"/>
              </a:rPr>
              <a:t>⏰  Smart Medication Schedule</a:t>
            </a:r>
          </a:p>
          <a:p>
            <a:r>
              <a:rPr sz="1050" b="0" i="0">
                <a:solidFill>
                  <a:srgbClr val="1E293B"/>
                </a:solidFill>
                <a:latin typeface="Segoe UI"/>
              </a:rPr>
              <a:t>
Converts Latin shorthand (OD, BD, TID) into concrete clock alarms (8:00 AM, 8:00 PM).</a:t>
            </a:r>
          </a:p>
        </p:txBody>
      </p:sp>
      <p:sp>
        <p:nvSpPr>
          <p:cNvPr id="9" name="Rounded Rectangle 8"/>
          <p:cNvSpPr/>
          <p:nvPr/>
        </p:nvSpPr>
        <p:spPr>
          <a:xfrm>
            <a:off x="8906256" y="1691640"/>
            <a:ext cx="2542032" cy="21031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b="1" i="0">
                <a:solidFill>
                  <a:srgbClr val="0F172A"/>
                </a:solidFill>
                <a:latin typeface="Segoe UI"/>
              </a:rPr>
              <a:t>🔔  Medicine Reminders</a:t>
            </a:r>
          </a:p>
          <a:p>
            <a:r>
              <a:rPr sz="1050" b="0" i="0">
                <a:solidFill>
                  <a:srgbClr val="1E293B"/>
                </a:solidFill>
                <a:latin typeface="Segoe UI"/>
              </a:rPr>
              <a:t>
Generates web push notifications and audio alerts so patients never skip a crucial dose.</a:t>
            </a:r>
          </a:p>
        </p:txBody>
      </p:sp>
      <p:sp>
        <p:nvSpPr>
          <p:cNvPr id="10" name="Rounded Rectangle 9"/>
          <p:cNvSpPr/>
          <p:nvPr/>
        </p:nvSpPr>
        <p:spPr>
          <a:xfrm>
            <a:off x="731520" y="4069080"/>
            <a:ext cx="2542032" cy="210312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b="1" i="0">
                <a:solidFill>
                  <a:srgbClr val="0F172A"/>
                </a:solidFill>
                <a:latin typeface="Segoe UI"/>
              </a:rPr>
              <a:t>🍎  Food &amp; Medication Guidance</a:t>
            </a:r>
          </a:p>
          <a:p>
            <a:r>
              <a:rPr sz="1050" b="0" i="0">
                <a:solidFill>
                  <a:srgbClr val="1E293B"/>
                </a:solidFill>
                <a:latin typeface="Segoe UI"/>
              </a:rPr>
              <a:t>
Proactive dietary engine highlights foods to eat, limit, or avoid based on active medicines.</a:t>
            </a:r>
          </a:p>
        </p:txBody>
      </p:sp>
      <p:sp>
        <p:nvSpPr>
          <p:cNvPr id="11" name="Rounded Rectangle 10"/>
          <p:cNvSpPr/>
          <p:nvPr/>
        </p:nvSpPr>
        <p:spPr>
          <a:xfrm>
            <a:off x="3456432" y="4069080"/>
            <a:ext cx="2542032" cy="21031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b="1" i="0">
                <a:solidFill>
                  <a:srgbClr val="0F172A"/>
                </a:solidFill>
                <a:latin typeface="Segoe UI"/>
              </a:rPr>
              <a:t>⚠️  Precaution &amp; Safety Alerts</a:t>
            </a:r>
          </a:p>
          <a:p>
            <a:r>
              <a:rPr sz="1050" b="0" i="0">
                <a:solidFill>
                  <a:srgbClr val="1E293B"/>
                </a:solidFill>
                <a:latin typeface="Segoe UI"/>
              </a:rPr>
              <a:t>
Color-coded confidence scoring (Green/Yellow/Red) flags ambiguous cursive for pharmacist review.</a:t>
            </a:r>
          </a:p>
        </p:txBody>
      </p:sp>
      <p:sp>
        <p:nvSpPr>
          <p:cNvPr id="12" name="Rounded Rectangle 11"/>
          <p:cNvSpPr/>
          <p:nvPr/>
        </p:nvSpPr>
        <p:spPr>
          <a:xfrm>
            <a:off x="6181344" y="4069080"/>
            <a:ext cx="2542032" cy="210312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b="1" i="0">
                <a:solidFill>
                  <a:srgbClr val="0F172A"/>
                </a:solidFill>
                <a:latin typeface="Segoe UI"/>
              </a:rPr>
              <a:t>🌐  Regional Language Translation</a:t>
            </a:r>
          </a:p>
          <a:p>
            <a:r>
              <a:rPr sz="1050" b="0" i="0">
                <a:solidFill>
                  <a:srgbClr val="1E293B"/>
                </a:solidFill>
                <a:latin typeface="Segoe UI"/>
              </a:rPr>
              <a:t>
Translates instructions into 11 Indian languages while preserving standardized medicine names.</a:t>
            </a:r>
          </a:p>
        </p:txBody>
      </p:sp>
      <p:sp>
        <p:nvSpPr>
          <p:cNvPr id="13" name="Rounded Rectangle 12"/>
          <p:cNvSpPr/>
          <p:nvPr/>
        </p:nvSpPr>
        <p:spPr>
          <a:xfrm>
            <a:off x="8906256" y="4069080"/>
            <a:ext cx="2542032" cy="21031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b="1" i="0">
                <a:solidFill>
                  <a:srgbClr val="0F172A"/>
                </a:solidFill>
                <a:latin typeface="Segoe UI"/>
              </a:rPr>
              <a:t>📄  Discharge Summary Simplification</a:t>
            </a:r>
          </a:p>
          <a:p>
            <a:r>
              <a:rPr sz="1050" b="0" i="0">
                <a:solidFill>
                  <a:srgbClr val="1E293B"/>
                </a:solidFill>
                <a:latin typeface="Segoe UI"/>
              </a:rPr>
              <a:t>
'Explain this to me' feature translates complex surgical and hospital discharge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3108960" cy="292608"/>
          </a:xfrm>
          <a:prstGeom prst="roundRect">
            <a:avLst/>
          </a:prstGeom>
          <a:solidFill>
            <a:srgbClr val="F0FDFA"/>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i="0">
                <a:solidFill>
                  <a:srgbClr val="0D9488"/>
                </a:solidFill>
                <a:latin typeface="Segoe UI"/>
              </a:rPr>
              <a:t>CLINICAL DIFFERENTIATOR</a:t>
            </a:r>
          </a:p>
        </p:txBody>
      </p:sp>
      <p:sp>
        <p:nvSpPr>
          <p:cNvPr id="5" name="TextBox 4"/>
          <p:cNvSpPr txBox="1"/>
          <p:nvPr/>
        </p:nvSpPr>
        <p:spPr>
          <a:xfrm>
            <a:off x="731520" y="640080"/>
            <a:ext cx="10728655" cy="777240"/>
          </a:xfrm>
          <a:prstGeom prst="rect">
            <a:avLst/>
          </a:prstGeom>
          <a:noFill/>
        </p:spPr>
        <p:txBody>
          <a:bodyPr wrap="square">
            <a:spAutoFit/>
          </a:bodyPr>
          <a:lstStyle/>
          <a:p>
            <a:r>
              <a:rPr sz="2600" b="1" i="0">
                <a:solidFill>
                  <a:srgbClr val="0F172A"/>
                </a:solidFill>
                <a:latin typeface="Segoe UI"/>
              </a:rPr>
              <a:t>Food &amp; Medication Safety Engine</a:t>
            </a:r>
          </a:p>
          <a:p>
            <a:r>
              <a:rPr sz="1250" b="0" i="0">
                <a:solidFill>
                  <a:srgbClr val="475569"/>
                </a:solidFill>
                <a:latin typeface="Segoe UI"/>
              </a:rPr>
              <a:t>A vital safety layer preventing common adverse diet-drug interactions.</a:t>
            </a:r>
          </a:p>
        </p:txBody>
      </p:sp>
      <p:sp>
        <p:nvSpPr>
          <p:cNvPr id="6" name="Rounded Rectangle 5"/>
          <p:cNvSpPr/>
          <p:nvPr/>
        </p:nvSpPr>
        <p:spPr>
          <a:xfrm>
            <a:off x="731520" y="1645920"/>
            <a:ext cx="10728655" cy="640080"/>
          </a:xfrm>
          <a:prstGeom prst="roundRect">
            <a:avLst/>
          </a:prstGeom>
          <a:solidFill>
            <a:srgbClr val="F0FDFA"/>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0D9488"/>
                </a:solidFill>
                <a:latin typeface="Segoe UI"/>
              </a:rPr>
              <a:t>FLOW:   [ Medicine Prescribed ]  ➔  [ Clinical Interaction Engine ]  ➔  [ Eat / Limit / Avoid Analysis ]  ➔  [ Safety Alert ]</a:t>
            </a:r>
          </a:p>
        </p:txBody>
      </p:sp>
      <p:sp>
        <p:nvSpPr>
          <p:cNvPr id="7" name="Rounded Rectangle 6"/>
          <p:cNvSpPr/>
          <p:nvPr/>
        </p:nvSpPr>
        <p:spPr>
          <a:xfrm>
            <a:off x="731520" y="2423160"/>
            <a:ext cx="10728655" cy="4114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1E3A8A"/>
                </a:solidFill>
                <a:latin typeface="Segoe UI"/>
              </a:rPr>
              <a:t>REAL-WORLD CLINICAL EXAMPLE:  Ciprofloxacin 500 mg (Antibiotic)  |  Source: British National Formulary (BNF)</a:t>
            </a:r>
          </a:p>
        </p:txBody>
      </p:sp>
      <p:sp>
        <p:nvSpPr>
          <p:cNvPr id="8" name="Rounded Rectangle 7"/>
          <p:cNvSpPr/>
          <p:nvPr/>
        </p:nvSpPr>
        <p:spPr>
          <a:xfrm>
            <a:off x="731520" y="2926080"/>
            <a:ext cx="3413455" cy="2606040"/>
          </a:xfrm>
          <a:prstGeom prst="roundRect">
            <a:avLst/>
          </a:prstGeom>
          <a:solidFill>
            <a:srgbClr val="ECFDF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b="1" i="0">
                <a:solidFill>
                  <a:srgbClr val="059669"/>
                </a:solidFill>
                <a:latin typeface="Segoe UI"/>
              </a:rPr>
              <a:t>🟢 EAT (SUITABLE)</a:t>
            </a:r>
          </a:p>
          <a:p>
            <a:r>
              <a:rPr sz="1050" b="1" i="0">
                <a:solidFill>
                  <a:srgbClr val="0F172A"/>
                </a:solidFill>
                <a:latin typeface="Segoe UI"/>
              </a:rPr>
              <a:t>Foods that do not interfere:</a:t>
            </a:r>
          </a:p>
          <a:p>
            <a:r>
              <a:rPr sz="1000" b="0" i="0">
                <a:solidFill>
                  <a:srgbClr val="1E293B"/>
                </a:solidFill>
                <a:latin typeface="Segoe UI"/>
              </a:rPr>
              <a:t>• Plain cooked rice, steamed vegetables</a:t>
            </a:r>
          </a:p>
          <a:p>
            <a:r>
              <a:rPr sz="1000" b="0" i="0">
                <a:solidFill>
                  <a:srgbClr val="1E293B"/>
                </a:solidFill>
                <a:latin typeface="Segoe UI"/>
              </a:rPr>
              <a:t>• Water, clear soups, herbal tea</a:t>
            </a:r>
          </a:p>
          <a:p>
            <a:r>
              <a:rPr sz="1000" b="0" i="0">
                <a:solidFill>
                  <a:srgbClr val="1E293B"/>
                </a:solidFill>
                <a:latin typeface="Segoe UI"/>
              </a:rPr>
              <a:t>• Whole grain bread &amp; lean proteins</a:t>
            </a:r>
          </a:p>
          <a:p>
            <a:r>
              <a:rPr sz="1000" b="0" i="0">
                <a:solidFill>
                  <a:srgbClr val="1E293B"/>
                </a:solidFill>
                <a:latin typeface="Segoe UI"/>
              </a:rPr>
              <a:t>• High hydration promotes safe drug clearance</a:t>
            </a:r>
          </a:p>
        </p:txBody>
      </p:sp>
      <p:sp>
        <p:nvSpPr>
          <p:cNvPr id="9" name="Rounded Rectangle 8"/>
          <p:cNvSpPr/>
          <p:nvPr/>
        </p:nvSpPr>
        <p:spPr>
          <a:xfrm>
            <a:off x="4389120" y="2926080"/>
            <a:ext cx="3413455" cy="260604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b="1" i="0">
                <a:solidFill>
                  <a:srgbClr val="D97706"/>
                </a:solidFill>
                <a:latin typeface="Segoe UI"/>
              </a:rPr>
              <a:t>🟡 LIMIT / TIME (CAUTION)</a:t>
            </a:r>
          </a:p>
          <a:p>
            <a:r>
              <a:rPr sz="1050" b="1" i="0">
                <a:solidFill>
                  <a:srgbClr val="0F172A"/>
                </a:solidFill>
                <a:latin typeface="Segoe UI"/>
              </a:rPr>
              <a:t>Requires strict time separation:</a:t>
            </a:r>
          </a:p>
          <a:p>
            <a:r>
              <a:rPr sz="1000" b="0" i="0">
                <a:solidFill>
                  <a:srgbClr val="1E293B"/>
                </a:solidFill>
                <a:latin typeface="Segoe UI"/>
              </a:rPr>
              <a:t>• Milk, Curd, Yogurt, Cheese, Paneer</a:t>
            </a:r>
          </a:p>
          <a:p>
            <a:r>
              <a:rPr sz="1000" b="0" i="0">
                <a:solidFill>
                  <a:srgbClr val="1E293B"/>
                </a:solidFill>
                <a:latin typeface="Segoe UI"/>
              </a:rPr>
              <a:t>• Calcium binds to antibiotic molecules</a:t>
            </a:r>
          </a:p>
          <a:p>
            <a:r>
              <a:rPr sz="1000" b="0" i="0">
                <a:solidFill>
                  <a:srgbClr val="1E293B"/>
                </a:solidFill>
                <a:latin typeface="Segoe UI"/>
              </a:rPr>
              <a:t>• Reduces drug absorption by up to 70%</a:t>
            </a:r>
          </a:p>
          <a:p>
            <a:r>
              <a:rPr sz="1000" b="0" i="0">
                <a:solidFill>
                  <a:srgbClr val="1E293B"/>
                </a:solidFill>
                <a:latin typeface="Segoe UI"/>
              </a:rPr>
              <a:t>• SAFE RULE: Separate dairy by 2 to 4 hours</a:t>
            </a:r>
          </a:p>
        </p:txBody>
      </p:sp>
      <p:sp>
        <p:nvSpPr>
          <p:cNvPr id="10" name="Rounded Rectangle 9"/>
          <p:cNvSpPr/>
          <p:nvPr/>
        </p:nvSpPr>
        <p:spPr>
          <a:xfrm>
            <a:off x="8046720" y="2926080"/>
            <a:ext cx="3413455" cy="2606040"/>
          </a:xfrm>
          <a:prstGeom prst="roundRect">
            <a:avLst/>
          </a:prstGeom>
          <a:solidFill>
            <a:srgbClr val="FFF1F2"/>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b="1" i="0">
                <a:solidFill>
                  <a:srgbClr val="E11D48"/>
                </a:solidFill>
                <a:latin typeface="Segoe UI"/>
              </a:rPr>
              <a:t>🔴 AVOID / CHECK (HIGH ALERT)</a:t>
            </a:r>
          </a:p>
          <a:p>
            <a:r>
              <a:rPr sz="1050" b="1" i="0">
                <a:solidFill>
                  <a:srgbClr val="0F172A"/>
                </a:solidFill>
                <a:latin typeface="Segoe UI"/>
              </a:rPr>
              <a:t>Severe risks requiring attention:</a:t>
            </a:r>
          </a:p>
          <a:p>
            <a:r>
              <a:rPr sz="1000" b="0" i="0">
                <a:solidFill>
                  <a:srgbClr val="1E293B"/>
                </a:solidFill>
                <a:latin typeface="Segoe UI"/>
              </a:rPr>
              <a:t>• Calcium &amp; Iron fortified supplements</a:t>
            </a:r>
          </a:p>
          <a:p>
            <a:r>
              <a:rPr sz="1000" b="0" i="0">
                <a:solidFill>
                  <a:srgbClr val="1E293B"/>
                </a:solidFill>
                <a:latin typeface="Segoe UI"/>
              </a:rPr>
              <a:t>• Alcohol: Triggers severe stomach distress</a:t>
            </a:r>
          </a:p>
          <a:p>
            <a:r>
              <a:rPr sz="1000" b="0" i="0">
                <a:solidFill>
                  <a:srgbClr val="1E293B"/>
                </a:solidFill>
                <a:latin typeface="Segoe UI"/>
              </a:rPr>
              <a:t>• Antacids containing aluminum/magnesium</a:t>
            </a:r>
          </a:p>
          <a:p>
            <a:r>
              <a:rPr sz="1000" b="0" i="0">
                <a:solidFill>
                  <a:srgbClr val="1E293B"/>
                </a:solidFill>
                <a:latin typeface="Segoe UI"/>
              </a:rPr>
              <a:t>• Always verify with prescribing doctor</a:t>
            </a:r>
          </a:p>
        </p:txBody>
      </p:sp>
      <p:sp>
        <p:nvSpPr>
          <p:cNvPr id="11" name="Rounded Rectangle 10"/>
          <p:cNvSpPr/>
          <p:nvPr/>
        </p:nvSpPr>
        <p:spPr>
          <a:xfrm>
            <a:off x="731520" y="5650992"/>
            <a:ext cx="10728655" cy="5029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i="0">
                <a:solidFill>
                  <a:srgbClr val="D97706"/>
                </a:solidFill>
                <a:latin typeface="Segoe UI"/>
              </a:rPr>
              <a:t>⚠️ CLINICAL SAFETY NOTICE: Always verify medication-specific food restrictions with a qualified doctor or pharmacist.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3108960" cy="292608"/>
          </a:xfrm>
          <a:prstGeom prst="roundRect">
            <a:avLst/>
          </a:prstGeom>
          <a:solidFill>
            <a:srgbClr val="F0FDFA"/>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i="0">
                <a:solidFill>
                  <a:srgbClr val="0D9488"/>
                </a:solidFill>
                <a:latin typeface="Segoe UI"/>
              </a:rPr>
              <a:t>PATIENT EXPERIENCE</a:t>
            </a:r>
          </a:p>
        </p:txBody>
      </p:sp>
      <p:sp>
        <p:nvSpPr>
          <p:cNvPr id="5" name="TextBox 4"/>
          <p:cNvSpPr txBox="1"/>
          <p:nvPr/>
        </p:nvSpPr>
        <p:spPr>
          <a:xfrm>
            <a:off x="731520" y="640080"/>
            <a:ext cx="10728655" cy="777240"/>
          </a:xfrm>
          <a:prstGeom prst="rect">
            <a:avLst/>
          </a:prstGeom>
          <a:noFill/>
        </p:spPr>
        <p:txBody>
          <a:bodyPr wrap="square">
            <a:spAutoFit/>
          </a:bodyPr>
          <a:lstStyle/>
          <a:p>
            <a:r>
              <a:rPr sz="2600" b="1" i="0">
                <a:solidFill>
                  <a:srgbClr val="0F172A"/>
                </a:solidFill>
                <a:latin typeface="Segoe UI"/>
              </a:rPr>
              <a:t>Smart Medication Reminders &amp; Daily UI</a:t>
            </a:r>
          </a:p>
          <a:p>
            <a:r>
              <a:rPr sz="1250" b="0" i="0">
                <a:solidFill>
                  <a:srgbClr val="475569"/>
                </a:solidFill>
                <a:latin typeface="Segoe UI"/>
              </a:rPr>
              <a:t>A realistic, distraction-free smartphone experience that keeps patients on track.</a:t>
            </a:r>
          </a:p>
        </p:txBody>
      </p:sp>
      <p:sp>
        <p:nvSpPr>
          <p:cNvPr id="6" name="Rounded Rectangle 5"/>
          <p:cNvSpPr/>
          <p:nvPr/>
        </p:nvSpPr>
        <p:spPr>
          <a:xfrm>
            <a:off x="1097280" y="1600200"/>
            <a:ext cx="3840480" cy="4663440"/>
          </a:xfrm>
          <a:prstGeom prst="roundRect">
            <a:avLst/>
          </a:prstGeom>
          <a:solidFill>
            <a:srgbClr val="FFFFFF"/>
          </a:solidFill>
          <a:ln w="31750">
            <a:solidFill>
              <a:srgbClr val="0F172A"/>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900" b="1" i="0">
                <a:solidFill>
                  <a:srgbClr val="475569"/>
                </a:solidFill>
                <a:latin typeface="Segoe UI"/>
              </a:rPr>
              <a:t>09:41 AM  ●●●  Wi-Fi  🔋 98%</a:t>
            </a:r>
          </a:p>
          <a:p>
            <a:r>
              <a:rPr sz="1400" b="1" i="0">
                <a:solidFill>
                  <a:srgbClr val="0F172A"/>
                </a:solidFill>
                <a:latin typeface="Segoe UI"/>
              </a:rPr>
              <a:t>
Good Morning, Rahul 👋</a:t>
            </a:r>
          </a:p>
          <a:p>
            <a:r>
              <a:rPr sz="1100" b="0" i="0">
                <a:solidFill>
                  <a:srgbClr val="475569"/>
                </a:solidFill>
                <a:latin typeface="Segoe UI"/>
              </a:rPr>
              <a:t>Today's Schedule: 2 of 3 Doses Taken</a:t>
            </a:r>
          </a:p>
          <a:p>
            <a:r>
              <a:rPr sz="1100" b="1" i="0">
                <a:solidFill>
                  <a:srgbClr val="0F172A"/>
                </a:solidFill>
                <a:latin typeface="Segoe UI"/>
              </a:rPr>
              <a:t>
⏰ 09:00 AM — Amoxicillin 500 mg</a:t>
            </a:r>
          </a:p>
          <a:p>
            <a:r>
              <a:rPr sz="1000" b="0" i="0">
                <a:solidFill>
                  <a:srgbClr val="1E293B"/>
                </a:solidFill>
                <a:latin typeface="Segoe UI"/>
              </a:rPr>
              <a:t>• 1 tablet | After breakfast</a:t>
            </a:r>
          </a:p>
          <a:p>
            <a:r>
              <a:rPr sz="1000" b="1" i="0">
                <a:solidFill>
                  <a:srgbClr val="059669"/>
                </a:solidFill>
                <a:latin typeface="Segoe UI"/>
              </a:rPr>
              <a:t>• STATUS: TAKEN ✓ (09:05 AM)</a:t>
            </a:r>
          </a:p>
          <a:p>
            <a:r>
              <a:rPr sz="1100" b="1" i="0">
                <a:solidFill>
                  <a:srgbClr val="0F172A"/>
                </a:solidFill>
                <a:latin typeface="Segoe UI"/>
              </a:rPr>
              <a:t>
⏰ 02:00 PM — Pantoprazole 40 mg</a:t>
            </a:r>
          </a:p>
          <a:p>
            <a:r>
              <a:rPr sz="1000" b="0" i="0">
                <a:solidFill>
                  <a:srgbClr val="1E293B"/>
                </a:solidFill>
                <a:latin typeface="Segoe UI"/>
              </a:rPr>
              <a:t>• 1 tablet | Before lunch</a:t>
            </a:r>
          </a:p>
          <a:p>
            <a:r>
              <a:rPr sz="1000" b="1" i="0">
                <a:solidFill>
                  <a:srgbClr val="0284C7"/>
                </a:solidFill>
                <a:latin typeface="Segoe UI"/>
              </a:rPr>
              <a:t>• STATUS: NEXT DOSE ⏱️ (In 45 mins)</a:t>
            </a:r>
          </a:p>
          <a:p>
            <a:r>
              <a:rPr sz="1100" b="1" i="0">
                <a:solidFill>
                  <a:srgbClr val="0F172A"/>
                </a:solidFill>
                <a:latin typeface="Segoe UI"/>
              </a:rPr>
              <a:t>
⏰ 09:00 PM — Amoxicillin 500 mg</a:t>
            </a:r>
          </a:p>
          <a:p>
            <a:r>
              <a:rPr sz="1000" b="0" i="0">
                <a:solidFill>
                  <a:srgbClr val="1E293B"/>
                </a:solidFill>
                <a:latin typeface="Segoe UI"/>
              </a:rPr>
              <a:t>• 1 tablet | After dinner</a:t>
            </a:r>
          </a:p>
          <a:p>
            <a:r>
              <a:rPr sz="1000" b="1" i="0">
                <a:solidFill>
                  <a:srgbClr val="475569"/>
                </a:solidFill>
                <a:latin typeface="Segoe UI"/>
              </a:rPr>
              <a:t>• STATUS: UPCOMING 📅</a:t>
            </a:r>
          </a:p>
        </p:txBody>
      </p:sp>
      <p:sp>
        <p:nvSpPr>
          <p:cNvPr id="7" name="Rounded Rectangle 6"/>
          <p:cNvSpPr/>
          <p:nvPr/>
        </p:nvSpPr>
        <p:spPr>
          <a:xfrm>
            <a:off x="5303520" y="1645920"/>
            <a:ext cx="6156655" cy="1005840"/>
          </a:xfrm>
          <a:prstGeom prst="roundRect">
            <a:avLst/>
          </a:prstGeom>
          <a:solidFill>
            <a:srgbClr val="ECFDF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b="1" i="0">
                <a:solidFill>
                  <a:srgbClr val="0F172A"/>
                </a:solidFill>
                <a:latin typeface="Segoe UI"/>
              </a:rPr>
              <a:t>🟢 Taken ✓ (1-Tap Checkoff)</a:t>
            </a:r>
          </a:p>
          <a:p>
            <a:r>
              <a:rPr sz="1100" b="0" i="0">
                <a:solidFill>
                  <a:srgbClr val="1E293B"/>
                </a:solidFill>
                <a:latin typeface="Segoe UI"/>
              </a:rPr>
              <a:t>Patients easily tap their doses. Confetti animations and adherence scores celebrate consistency.</a:t>
            </a:r>
          </a:p>
        </p:txBody>
      </p:sp>
      <p:sp>
        <p:nvSpPr>
          <p:cNvPr id="8" name="Rounded Rectangle 7"/>
          <p:cNvSpPr/>
          <p:nvPr/>
        </p:nvSpPr>
        <p:spPr>
          <a:xfrm>
            <a:off x="5303520" y="2788920"/>
            <a:ext cx="6156655" cy="1005840"/>
          </a:xfrm>
          <a:prstGeom prst="roundRect">
            <a:avLst/>
          </a:prstGeom>
          <a:solidFill>
            <a:srgbClr val="EFF6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b="1" i="0">
                <a:solidFill>
                  <a:srgbClr val="0F172A"/>
                </a:solidFill>
                <a:latin typeface="Segoe UI"/>
              </a:rPr>
              <a:t>🔵 Next Dose (Smart Countdown)</a:t>
            </a:r>
          </a:p>
          <a:p>
            <a:r>
              <a:rPr sz="1100" b="0" i="0">
                <a:solidFill>
                  <a:srgbClr val="1E293B"/>
                </a:solidFill>
                <a:latin typeface="Segoe UI"/>
              </a:rPr>
              <a:t>Highlights the immediate upcoming medicine with food instructions (e.g. 'Before lunch').</a:t>
            </a:r>
          </a:p>
        </p:txBody>
      </p:sp>
      <p:sp>
        <p:nvSpPr>
          <p:cNvPr id="9" name="Rounded Rectangle 8"/>
          <p:cNvSpPr/>
          <p:nvPr/>
        </p:nvSpPr>
        <p:spPr>
          <a:xfrm>
            <a:off x="5303520" y="3931920"/>
            <a:ext cx="6156655" cy="1005840"/>
          </a:xfrm>
          <a:prstGeom prst="roundRect">
            <a:avLst/>
          </a:prstGeom>
          <a:solidFill>
            <a:srgbClr val="F0FD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b="1" i="0">
                <a:solidFill>
                  <a:srgbClr val="0F172A"/>
                </a:solidFill>
                <a:latin typeface="Segoe UI"/>
              </a:rPr>
              <a:t>⚪ Upcoming (Daily Overview)</a:t>
            </a:r>
          </a:p>
          <a:p>
            <a:r>
              <a:rPr sz="1100" b="0" i="0">
                <a:solidFill>
                  <a:srgbClr val="1E293B"/>
                </a:solidFill>
                <a:latin typeface="Segoe UI"/>
              </a:rPr>
              <a:t>Shows evening and bedtime doses so patients and family caregivers can plan meals in advance.</a:t>
            </a:r>
          </a:p>
        </p:txBody>
      </p:sp>
      <p:sp>
        <p:nvSpPr>
          <p:cNvPr id="10" name="Rounded Rectangle 9"/>
          <p:cNvSpPr/>
          <p:nvPr/>
        </p:nvSpPr>
        <p:spPr>
          <a:xfrm>
            <a:off x="5303520" y="5074920"/>
            <a:ext cx="6156655" cy="1005840"/>
          </a:xfrm>
          <a:prstGeom prst="roundRect">
            <a:avLst/>
          </a:prstGeom>
          <a:solidFill>
            <a:srgbClr val="FFF1F2"/>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b="1" i="0">
                <a:solidFill>
                  <a:srgbClr val="0F172A"/>
                </a:solidFill>
                <a:latin typeface="Segoe UI"/>
              </a:rPr>
              <a:t>🔴 Missed / Overdue Tracking</a:t>
            </a:r>
          </a:p>
          <a:p>
            <a:r>
              <a:rPr sz="1100" b="0" i="0">
                <a:solidFill>
                  <a:srgbClr val="1E293B"/>
                </a:solidFill>
                <a:latin typeface="Segoe UI"/>
              </a:rPr>
              <a:t>If a dose is delayed, gentle reminder notifications prompt the patient and notify family members.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3108960" cy="292608"/>
          </a:xfrm>
          <a:prstGeom prst="roundRect">
            <a:avLst/>
          </a:prstGeom>
          <a:solidFill>
            <a:srgbClr val="F0FDFA"/>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i="0">
                <a:solidFill>
                  <a:srgbClr val="0D9488"/>
                </a:solidFill>
                <a:latin typeface="Segoe UI"/>
              </a:rPr>
              <a:t>VERNACULAR INCLUSION</a:t>
            </a:r>
          </a:p>
        </p:txBody>
      </p:sp>
      <p:sp>
        <p:nvSpPr>
          <p:cNvPr id="5" name="TextBox 4"/>
          <p:cNvSpPr txBox="1"/>
          <p:nvPr/>
        </p:nvSpPr>
        <p:spPr>
          <a:xfrm>
            <a:off x="731520" y="640080"/>
            <a:ext cx="10728655" cy="777240"/>
          </a:xfrm>
          <a:prstGeom prst="rect">
            <a:avLst/>
          </a:prstGeom>
          <a:noFill/>
        </p:spPr>
        <p:txBody>
          <a:bodyPr wrap="square">
            <a:spAutoFit/>
          </a:bodyPr>
          <a:lstStyle/>
          <a:p>
            <a:r>
              <a:rPr sz="2600" b="1" i="0">
                <a:solidFill>
                  <a:srgbClr val="0F172A"/>
                </a:solidFill>
                <a:latin typeface="Segoe UI"/>
              </a:rPr>
              <a:t>Regional Language Support</a:t>
            </a:r>
          </a:p>
          <a:p>
            <a:r>
              <a:rPr sz="1250" b="0" i="0">
                <a:solidFill>
                  <a:srgbClr val="475569"/>
                </a:solidFill>
                <a:latin typeface="Segoe UI"/>
              </a:rPr>
              <a:t>Bridging the linguistic divide to make healthcare universally accessible.</a:t>
            </a:r>
          </a:p>
        </p:txBody>
      </p:sp>
      <p:sp>
        <p:nvSpPr>
          <p:cNvPr id="6" name="Rounded Rectangle 5"/>
          <p:cNvSpPr/>
          <p:nvPr/>
        </p:nvSpPr>
        <p:spPr>
          <a:xfrm>
            <a:off x="731520" y="1645920"/>
            <a:ext cx="10728655" cy="868680"/>
          </a:xfrm>
          <a:prstGeom prst="roundRect">
            <a:avLst/>
          </a:prstGeom>
          <a:solidFill>
            <a:srgbClr val="F0FD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1">
                <a:solidFill>
                  <a:srgbClr val="0D9488"/>
                </a:solidFill>
                <a:latin typeface="Segoe UI"/>
              </a:rPr>
              <a:t>“Healthcare information becomes truly useful only when patients can understand it in their own language.”</a:t>
            </a:r>
          </a:p>
        </p:txBody>
      </p:sp>
      <p:sp>
        <p:nvSpPr>
          <p:cNvPr id="7" name="Rounded Rectangle 6"/>
          <p:cNvSpPr/>
          <p:nvPr/>
        </p:nvSpPr>
        <p:spPr>
          <a:xfrm>
            <a:off x="731520" y="2697480"/>
            <a:ext cx="3413455" cy="2331720"/>
          </a:xfrm>
          <a:prstGeom prst="roundRect">
            <a:avLst/>
          </a:prstGeom>
          <a:solidFill>
            <a:srgbClr val="EFF6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400" b="1" i="0">
                <a:solidFill>
                  <a:srgbClr val="0F172A"/>
                </a:solidFill>
                <a:latin typeface="Segoe UI"/>
              </a:rPr>
              <a:t>🇬🇧 English (Original)</a:t>
            </a:r>
          </a:p>
          <a:p>
            <a:r>
              <a:rPr sz="1100" b="1" i="0">
                <a:solidFill>
                  <a:srgbClr val="0284C7"/>
                </a:solidFill>
                <a:latin typeface="Segoe UI"/>
              </a:rPr>
              <a:t>Standard Medical Direction</a:t>
            </a:r>
          </a:p>
          <a:p>
            <a:r>
              <a:rPr sz="1200" b="1" i="0">
                <a:solidFill>
                  <a:srgbClr val="0F172A"/>
                </a:solidFill>
                <a:latin typeface="Segoe UI"/>
              </a:rPr>
              <a:t>
Amoxicillin 500 mg
Take 1 tablet twice daily after meals with water.</a:t>
            </a:r>
          </a:p>
        </p:txBody>
      </p:sp>
      <p:sp>
        <p:nvSpPr>
          <p:cNvPr id="8" name="Rounded Rectangle 7"/>
          <p:cNvSpPr/>
          <p:nvPr/>
        </p:nvSpPr>
        <p:spPr>
          <a:xfrm>
            <a:off x="4389120" y="2697480"/>
            <a:ext cx="3413455" cy="2331720"/>
          </a:xfrm>
          <a:prstGeom prst="roundRect">
            <a:avLst/>
          </a:prstGeom>
          <a:solidFill>
            <a:srgbClr val="F0FD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400" b="1" i="0">
                <a:solidFill>
                  <a:srgbClr val="0F172A"/>
                </a:solidFill>
                <a:latin typeface="Segoe UI"/>
              </a:rPr>
              <a:t>🇮🇳 Hindi (हिन्दी)</a:t>
            </a:r>
          </a:p>
          <a:p>
            <a:r>
              <a:rPr sz="1100" b="1" i="0">
                <a:solidFill>
                  <a:srgbClr val="0D9488"/>
                </a:solidFill>
                <a:latin typeface="Segoe UI"/>
              </a:rPr>
              <a:t>National Vernacular</a:t>
            </a:r>
          </a:p>
          <a:p>
            <a:r>
              <a:rPr sz="1200" b="1" i="0">
                <a:solidFill>
                  <a:srgbClr val="0F172A"/>
                </a:solidFill>
                <a:latin typeface="Segoe UI"/>
              </a:rPr>
              <a:t>
Amoxicillin 500 mg
भोजन के बाद पानी के साथ दिन में दो बार 1 गोली लें।</a:t>
            </a:r>
          </a:p>
        </p:txBody>
      </p:sp>
      <p:sp>
        <p:nvSpPr>
          <p:cNvPr id="9" name="Rounded Rectangle 8"/>
          <p:cNvSpPr/>
          <p:nvPr/>
        </p:nvSpPr>
        <p:spPr>
          <a:xfrm>
            <a:off x="8046720" y="2697480"/>
            <a:ext cx="3413455" cy="2331720"/>
          </a:xfrm>
          <a:prstGeom prst="roundRect">
            <a:avLst/>
          </a:prstGeom>
          <a:solidFill>
            <a:srgbClr val="ECFDF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400" b="1" i="0">
                <a:solidFill>
                  <a:srgbClr val="0F172A"/>
                </a:solidFill>
                <a:latin typeface="Segoe UI"/>
              </a:rPr>
              <a:t>🇮🇳 Kannada (ಕನ್ನಡ)</a:t>
            </a:r>
          </a:p>
          <a:p>
            <a:r>
              <a:rPr sz="1100" b="1" i="0">
                <a:solidFill>
                  <a:srgbClr val="059669"/>
                </a:solidFill>
                <a:latin typeface="Segoe UI"/>
              </a:rPr>
              <a:t>Regional State Language</a:t>
            </a:r>
          </a:p>
          <a:p>
            <a:r>
              <a:rPr sz="1200" b="1" i="0">
                <a:solidFill>
                  <a:srgbClr val="0F172A"/>
                </a:solidFill>
                <a:latin typeface="Segoe UI"/>
              </a:rPr>
              <a:t>
Amoxicillin 500 mg
ಊಟದ ನಂತರ ದಿನಕ್ಕೆ ಎರಡು ಬಾರಿ ನೀರಿನೊಂದಿಗೆ 1 ಮಾತ್ರೆ ತೆಗೆದುಕೊಳ್ಳಿ.</a:t>
            </a:r>
          </a:p>
        </p:txBody>
      </p:sp>
      <p:sp>
        <p:nvSpPr>
          <p:cNvPr id="10" name="Rounded Rectangle 9"/>
          <p:cNvSpPr/>
          <p:nvPr/>
        </p:nvSpPr>
        <p:spPr>
          <a:xfrm>
            <a:off x="731520" y="5212080"/>
            <a:ext cx="10728655" cy="1005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a:lstStyle/>
          <a:p>
            <a:pPr algn="ctr"/>
            <a:r>
              <a:rPr sz="1150" b="1" i="0">
                <a:solidFill>
                  <a:srgbClr val="D97706"/>
                </a:solidFill>
                <a:latin typeface="Segoe UI"/>
              </a:rPr>
              <a:t>🔑 KEY CLINICAL SAFETY RULE IN TRANSLATION:</a:t>
            </a:r>
          </a:p>
          <a:p>
            <a:r>
              <a:rPr sz="1100" b="0" i="0">
                <a:solidFill>
                  <a:srgbClr val="1E293B"/>
                </a:solidFill>
                <a:latin typeface="Segoe UI"/>
              </a:rPr>
              <a:t>Medicine names (e.g. 'Amoxicillin 500 mg') are preserved in Roman script to prevent dangerous drug confusion at local pharmacy counters, while frequencies and food timings translate seamlessly into the patient's native script.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3108960" cy="292608"/>
          </a:xfrm>
          <a:prstGeom prst="roundRect">
            <a:avLst/>
          </a:prstGeom>
          <a:solidFill>
            <a:srgbClr val="F0FDFA"/>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i="0">
                <a:solidFill>
                  <a:srgbClr val="0D9488"/>
                </a:solidFill>
                <a:latin typeface="Segoe UI"/>
              </a:rPr>
              <a:t>TECHNICAL BLUEPRINT</a:t>
            </a:r>
          </a:p>
        </p:txBody>
      </p:sp>
      <p:sp>
        <p:nvSpPr>
          <p:cNvPr id="5" name="TextBox 4"/>
          <p:cNvSpPr txBox="1"/>
          <p:nvPr/>
        </p:nvSpPr>
        <p:spPr>
          <a:xfrm>
            <a:off x="731520" y="640080"/>
            <a:ext cx="10728655" cy="777240"/>
          </a:xfrm>
          <a:prstGeom prst="rect">
            <a:avLst/>
          </a:prstGeom>
          <a:noFill/>
        </p:spPr>
        <p:txBody>
          <a:bodyPr wrap="square">
            <a:spAutoFit/>
          </a:bodyPr>
          <a:lstStyle/>
          <a:p>
            <a:r>
              <a:rPr sz="2600" b="1" i="0">
                <a:solidFill>
                  <a:srgbClr val="0F172A"/>
                </a:solidFill>
                <a:latin typeface="Segoe UI"/>
              </a:rPr>
              <a:t>Technology Architecture &amp; Data Pipeline</a:t>
            </a:r>
          </a:p>
          <a:p>
            <a:r>
              <a:rPr sz="1250" b="0" i="0">
                <a:solidFill>
                  <a:srgbClr val="475569"/>
                </a:solidFill>
                <a:latin typeface="Segoe UI"/>
              </a:rPr>
              <a:t>Decoupled full-stack architecture built for high reliability and patient privacy.</a:t>
            </a:r>
          </a:p>
        </p:txBody>
      </p:sp>
      <p:sp>
        <p:nvSpPr>
          <p:cNvPr id="6" name="Rounded Rectangle 5"/>
          <p:cNvSpPr/>
          <p:nvPr/>
        </p:nvSpPr>
        <p:spPr>
          <a:xfrm>
            <a:off x="731520" y="1645920"/>
            <a:ext cx="1243584" cy="14630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050" b="1" i="0">
                <a:solidFill>
                  <a:srgbClr val="0D9488"/>
                </a:solidFill>
                <a:latin typeface="Segoe UI"/>
              </a:rPr>
              <a:t>1. User</a:t>
            </a:r>
          </a:p>
          <a:p>
            <a:r>
              <a:rPr sz="950" b="1" i="0">
                <a:solidFill>
                  <a:srgbClr val="0F172A"/>
                </a:solidFill>
                <a:latin typeface="Segoe UI"/>
              </a:rPr>
              <a:t>
Patient / Caregiver</a:t>
            </a:r>
          </a:p>
        </p:txBody>
      </p:sp>
      <p:sp>
        <p:nvSpPr>
          <p:cNvPr id="7" name="Rounded Rectangle 6"/>
          <p:cNvSpPr/>
          <p:nvPr/>
        </p:nvSpPr>
        <p:spPr>
          <a:xfrm>
            <a:off x="2084832" y="1645920"/>
            <a:ext cx="1243584" cy="14630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050" b="1" i="0">
                <a:solidFill>
                  <a:srgbClr val="0D9488"/>
                </a:solidFill>
                <a:latin typeface="Segoe UI"/>
              </a:rPr>
              <a:t>2. Upload</a:t>
            </a:r>
          </a:p>
          <a:p>
            <a:r>
              <a:rPr sz="950" b="1" i="0">
                <a:solidFill>
                  <a:srgbClr val="0F172A"/>
                </a:solidFill>
                <a:latin typeface="Segoe UI"/>
              </a:rPr>
              <a:t>
Camera / File Picker</a:t>
            </a:r>
          </a:p>
        </p:txBody>
      </p:sp>
      <p:sp>
        <p:nvSpPr>
          <p:cNvPr id="8" name="Rounded Rectangle 7"/>
          <p:cNvSpPr/>
          <p:nvPr/>
        </p:nvSpPr>
        <p:spPr>
          <a:xfrm>
            <a:off x="3438144" y="1645920"/>
            <a:ext cx="1243584" cy="14630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050" b="1" i="0">
                <a:solidFill>
                  <a:srgbClr val="0D9488"/>
                </a:solidFill>
                <a:latin typeface="Segoe UI"/>
              </a:rPr>
              <a:t>3. Vision OCR</a:t>
            </a:r>
          </a:p>
          <a:p>
            <a:r>
              <a:rPr sz="950" b="1" i="0">
                <a:solidFill>
                  <a:srgbClr val="0F172A"/>
                </a:solidFill>
                <a:latin typeface="Segoe UI"/>
              </a:rPr>
              <a:t>
Gemini Vision Multimodal</a:t>
            </a:r>
          </a:p>
        </p:txBody>
      </p:sp>
      <p:sp>
        <p:nvSpPr>
          <p:cNvPr id="9" name="Rounded Rectangle 8"/>
          <p:cNvSpPr/>
          <p:nvPr/>
        </p:nvSpPr>
        <p:spPr>
          <a:xfrm>
            <a:off x="4791456" y="1645920"/>
            <a:ext cx="1243584" cy="14630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050" b="1" i="0">
                <a:solidFill>
                  <a:srgbClr val="0D9488"/>
                </a:solidFill>
                <a:latin typeface="Segoe UI"/>
              </a:rPr>
              <a:t>4. Extraction</a:t>
            </a:r>
          </a:p>
          <a:p>
            <a:r>
              <a:rPr sz="950" b="1" i="0">
                <a:solidFill>
                  <a:srgbClr val="0F172A"/>
                </a:solidFill>
                <a:latin typeface="Segoe UI"/>
              </a:rPr>
              <a:t>
Medicine, Dose, Timing</a:t>
            </a:r>
          </a:p>
        </p:txBody>
      </p:sp>
      <p:sp>
        <p:nvSpPr>
          <p:cNvPr id="10" name="Rounded Rectangle 9"/>
          <p:cNvSpPr/>
          <p:nvPr/>
        </p:nvSpPr>
        <p:spPr>
          <a:xfrm>
            <a:off x="6144768" y="1645920"/>
            <a:ext cx="1243584" cy="14630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050" b="1" i="0">
                <a:solidFill>
                  <a:srgbClr val="0D9488"/>
                </a:solidFill>
                <a:latin typeface="Segoe UI"/>
              </a:rPr>
              <a:t>5. Safety Check</a:t>
            </a:r>
          </a:p>
          <a:p>
            <a:r>
              <a:rPr sz="950" b="1" i="0">
                <a:solidFill>
                  <a:srgbClr val="0F172A"/>
                </a:solidFill>
                <a:latin typeface="Segoe UI"/>
              </a:rPr>
              <a:t>
Curated BNF / FDA DB</a:t>
            </a:r>
          </a:p>
        </p:txBody>
      </p:sp>
      <p:sp>
        <p:nvSpPr>
          <p:cNvPr id="11" name="Rounded Rectangle 10"/>
          <p:cNvSpPr/>
          <p:nvPr/>
        </p:nvSpPr>
        <p:spPr>
          <a:xfrm>
            <a:off x="7498080" y="1645920"/>
            <a:ext cx="1243584" cy="14630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050" b="1" i="0">
                <a:solidFill>
                  <a:srgbClr val="0D9488"/>
                </a:solidFill>
                <a:latin typeface="Segoe UI"/>
              </a:rPr>
              <a:t>6. Translation</a:t>
            </a:r>
          </a:p>
          <a:p>
            <a:r>
              <a:rPr sz="950" b="1" i="0">
                <a:solidFill>
                  <a:srgbClr val="0F172A"/>
                </a:solidFill>
                <a:latin typeface="Segoe UI"/>
              </a:rPr>
              <a:t>
11 Native Languages</a:t>
            </a:r>
          </a:p>
        </p:txBody>
      </p:sp>
      <p:sp>
        <p:nvSpPr>
          <p:cNvPr id="12" name="Rounded Rectangle 11"/>
          <p:cNvSpPr/>
          <p:nvPr/>
        </p:nvSpPr>
        <p:spPr>
          <a:xfrm>
            <a:off x="8851392" y="1645920"/>
            <a:ext cx="1243584" cy="14630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050" b="1" i="0">
                <a:solidFill>
                  <a:srgbClr val="0D9488"/>
                </a:solidFill>
                <a:latin typeface="Segoe UI"/>
              </a:rPr>
              <a:t>7. Reminders</a:t>
            </a:r>
          </a:p>
          <a:p>
            <a:r>
              <a:rPr sz="950" b="1" i="0">
                <a:solidFill>
                  <a:srgbClr val="0F172A"/>
                </a:solidFill>
                <a:latin typeface="Segoe UI"/>
              </a:rPr>
              <a:t>
Notification Engine</a:t>
            </a:r>
          </a:p>
        </p:txBody>
      </p:sp>
      <p:sp>
        <p:nvSpPr>
          <p:cNvPr id="13" name="Rounded Rectangle 12"/>
          <p:cNvSpPr/>
          <p:nvPr/>
        </p:nvSpPr>
        <p:spPr>
          <a:xfrm>
            <a:off x="10204704" y="1645920"/>
            <a:ext cx="1243584" cy="14630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050" b="1" i="0">
                <a:solidFill>
                  <a:srgbClr val="0D9488"/>
                </a:solidFill>
                <a:latin typeface="Segoe UI"/>
              </a:rPr>
              <a:t>8. Dashboard</a:t>
            </a:r>
          </a:p>
          <a:p>
            <a:r>
              <a:rPr sz="950" b="1" i="0">
                <a:solidFill>
                  <a:srgbClr val="0F172A"/>
                </a:solidFill>
                <a:latin typeface="Segoe UI"/>
              </a:rPr>
              <a:t>
Daily Adherence Portal</a:t>
            </a:r>
          </a:p>
        </p:txBody>
      </p:sp>
      <p:sp>
        <p:nvSpPr>
          <p:cNvPr id="14" name="Rounded Rectangle 13"/>
          <p:cNvSpPr/>
          <p:nvPr/>
        </p:nvSpPr>
        <p:spPr>
          <a:xfrm>
            <a:off x="731520" y="3291840"/>
            <a:ext cx="3413455" cy="2926080"/>
          </a:xfrm>
          <a:prstGeom prst="roundRect">
            <a:avLst/>
          </a:prstGeom>
          <a:solidFill>
            <a:srgbClr val="F0FDF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b="1" i="0">
                <a:solidFill>
                  <a:srgbClr val="0F172A"/>
                </a:solidFill>
                <a:latin typeface="Segoe UI"/>
              </a:rPr>
              <a:t>Frontend &amp; Presentation Layer</a:t>
            </a:r>
          </a:p>
          <a:p>
            <a:r>
              <a:rPr sz="1050" b="0" i="0">
                <a:solidFill>
                  <a:srgbClr val="1E293B"/>
                </a:solidFill>
                <a:latin typeface="Segoe UI"/>
              </a:rPr>
              <a:t>
• Next.js 15 (App Router) &amp; React 19
• TypeScript &amp; Tailwind CSS
• Responsive Mobile-First PWA
• Lucide Medical Iconography
• Status: IMPLEMENTED &amp; TESTED ✔️</a:t>
            </a:r>
          </a:p>
        </p:txBody>
      </p:sp>
      <p:sp>
        <p:nvSpPr>
          <p:cNvPr id="15" name="Rounded Rectangle 14"/>
          <p:cNvSpPr/>
          <p:nvPr/>
        </p:nvSpPr>
        <p:spPr>
          <a:xfrm>
            <a:off x="4389120" y="3291840"/>
            <a:ext cx="3413455" cy="2926080"/>
          </a:xfrm>
          <a:prstGeom prst="roundRect">
            <a:avLst/>
          </a:prstGeom>
          <a:solidFill>
            <a:srgbClr val="EFF6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b="1" i="0">
                <a:solidFill>
                  <a:srgbClr val="0F172A"/>
                </a:solidFill>
                <a:latin typeface="Segoe UI"/>
              </a:rPr>
              <a:t>AI &amp; Clinical Knowledge Engine</a:t>
            </a:r>
          </a:p>
          <a:p>
            <a:r>
              <a:rPr sz="1050" b="0" i="0">
                <a:solidFill>
                  <a:srgbClr val="1E293B"/>
                </a:solidFill>
                <a:latin typeface="Segoe UI"/>
              </a:rPr>
              <a:t>
• Google Gemini Vision Multimodal API
• Curated BNF / FDA Food Interaction DB
• 11-Language Medical Dictionary
• Zero-Guessing Verification Prompts
• Status: IMPLEMENTED &amp; TESTED ✔️</a:t>
            </a:r>
          </a:p>
        </p:txBody>
      </p:sp>
      <p:sp>
        <p:nvSpPr>
          <p:cNvPr id="16" name="Rounded Rectangle 15"/>
          <p:cNvSpPr/>
          <p:nvPr/>
        </p:nvSpPr>
        <p:spPr>
          <a:xfrm>
            <a:off x="8046720" y="3291840"/>
            <a:ext cx="3413455" cy="2926080"/>
          </a:xfrm>
          <a:prstGeom prst="roundRect">
            <a:avLst/>
          </a:prstGeom>
          <a:solidFill>
            <a:srgbClr val="ECFDF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b="1" i="0">
                <a:solidFill>
                  <a:srgbClr val="0F172A"/>
                </a:solidFill>
                <a:latin typeface="Segoe UI"/>
              </a:rPr>
              <a:t>Backend, Security &amp; Roadmap</a:t>
            </a:r>
          </a:p>
          <a:p>
            <a:r>
              <a:rPr sz="1050" b="0" i="0">
                <a:solidFill>
                  <a:srgbClr val="1E293B"/>
                </a:solidFill>
                <a:latin typeface="Segoe UI"/>
              </a:rPr>
              <a:t>
• Supabase PostgreSQL with Row Level Security
• Next.js Edge API Route Handlers
• Web Notification Reminders Engine
• Planned: Flutter Native &amp; ABDM EMR Sync
• Status: CORE LIVE / EXPANDING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3108960" cy="292608"/>
          </a:xfrm>
          <a:prstGeom prst="roundRect">
            <a:avLst/>
          </a:prstGeom>
          <a:solidFill>
            <a:srgbClr val="F0FDFA"/>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i="0">
                <a:solidFill>
                  <a:srgbClr val="0D9488"/>
                </a:solidFill>
                <a:latin typeface="Segoe UI"/>
              </a:rPr>
              <a:t>COMPETITIVE ADVANTAGE</a:t>
            </a:r>
          </a:p>
        </p:txBody>
      </p:sp>
      <p:sp>
        <p:nvSpPr>
          <p:cNvPr id="5" name="TextBox 4"/>
          <p:cNvSpPr txBox="1"/>
          <p:nvPr/>
        </p:nvSpPr>
        <p:spPr>
          <a:xfrm>
            <a:off x="731520" y="640080"/>
            <a:ext cx="10728655" cy="777240"/>
          </a:xfrm>
          <a:prstGeom prst="rect">
            <a:avLst/>
          </a:prstGeom>
          <a:noFill/>
        </p:spPr>
        <p:txBody>
          <a:bodyPr wrap="square">
            <a:spAutoFit/>
          </a:bodyPr>
          <a:lstStyle/>
          <a:p>
            <a:r>
              <a:rPr sz="2600" b="1" i="0">
                <a:solidFill>
                  <a:srgbClr val="0F172A"/>
                </a:solidFill>
                <a:latin typeface="Segoe UI"/>
              </a:rPr>
              <a:t>Why MediDecode? Traditional Approach vs MediDecode</a:t>
            </a:r>
          </a:p>
          <a:p>
            <a:r>
              <a:rPr sz="1250" b="0" i="0">
                <a:solidFill>
                  <a:srgbClr val="475569"/>
                </a:solidFill>
                <a:latin typeface="Segoe UI"/>
              </a:rPr>
              <a:t>Transforming passive, confusing paper slips into an active, verified digital recovery companion.</a:t>
            </a:r>
          </a:p>
        </p:txBody>
      </p:sp>
      <p:sp>
        <p:nvSpPr>
          <p:cNvPr id="6" name="Rounded Rectangle 5"/>
          <p:cNvSpPr/>
          <p:nvPr/>
        </p:nvSpPr>
        <p:spPr>
          <a:xfrm>
            <a:off x="731520" y="1645920"/>
            <a:ext cx="5212080" cy="4663440"/>
          </a:xfrm>
          <a:prstGeom prst="roundRect">
            <a:avLst/>
          </a:prstGeom>
          <a:solidFill>
            <a:srgbClr val="FFF1F2"/>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400" b="1" i="0">
                <a:solidFill>
                  <a:srgbClr val="E11D48"/>
                </a:solidFill>
                <a:latin typeface="Segoe UI"/>
              </a:rPr>
              <a:t>❌  TRADITIONAL HEALTHCARE APPROACH</a:t>
            </a:r>
          </a:p>
          <a:p>
            <a:r>
              <a:rPr sz="1050" b="0" i="0">
                <a:solidFill>
                  <a:srgbClr val="0F172A"/>
                </a:solidFill>
                <a:latin typeface="Segoe UI"/>
              </a:rPr>
              <a:t>
• Difficult Cursive Handwriting: Misread drug names and wrong dosages leading to medical emergencies.</a:t>
            </a:r>
          </a:p>
          <a:p>
            <a:r>
              <a:rPr sz="1050" b="0" i="0">
                <a:solidFill>
                  <a:srgbClr val="0F172A"/>
                </a:solidFill>
                <a:latin typeface="Segoe UI"/>
              </a:rPr>
              <a:t>• Complex Latin Abbreviations: Terms like 'BD', 'TID', 'HS' confuse patients about exact clock timings.</a:t>
            </a:r>
          </a:p>
          <a:p>
            <a:r>
              <a:rPr sz="1050" b="0" i="0">
                <a:solidFill>
                  <a:srgbClr val="0F172A"/>
                </a:solidFill>
                <a:latin typeface="Segoe UI"/>
              </a:rPr>
              <a:t>• English-Only Language Barrier: Non-English speakers cannot understand their own prescribed medications.</a:t>
            </a:r>
          </a:p>
          <a:p>
            <a:r>
              <a:rPr sz="1050" b="0" i="0">
                <a:solidFill>
                  <a:srgbClr val="0F172A"/>
                </a:solidFill>
                <a:latin typeface="Segoe UI"/>
              </a:rPr>
              <a:t>• Manual Medicine Tracking: Patients rely on memory, leading to missed doses or early course termination.</a:t>
            </a:r>
          </a:p>
          <a:p>
            <a:r>
              <a:rPr sz="1050" b="0" i="0">
                <a:solidFill>
                  <a:srgbClr val="0F172A"/>
                </a:solidFill>
                <a:latin typeface="Segoe UI"/>
              </a:rPr>
              <a:t>• Zero Dietary Awareness: Patients take medicines with calcium or citrus without knowing it blocks absorption.</a:t>
            </a:r>
          </a:p>
          <a:p>
            <a:r>
              <a:rPr sz="1050" b="0" i="0">
                <a:solidFill>
                  <a:srgbClr val="0F172A"/>
                </a:solidFill>
                <a:latin typeface="Segoe UI"/>
              </a:rPr>
              <a:t>• Dense Discharge Papers: Multi-page technical hospital documents that patients cannot interpret at home.</a:t>
            </a:r>
          </a:p>
        </p:txBody>
      </p:sp>
      <p:sp>
        <p:nvSpPr>
          <p:cNvPr id="7" name="Rounded Rectangle 6"/>
          <p:cNvSpPr/>
          <p:nvPr/>
        </p:nvSpPr>
        <p:spPr>
          <a:xfrm>
            <a:off x="6217920" y="1645920"/>
            <a:ext cx="5212080" cy="4663440"/>
          </a:xfrm>
          <a:prstGeom prst="roundRect">
            <a:avLst/>
          </a:prstGeom>
          <a:solidFill>
            <a:srgbClr val="ECFDF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400" b="1" i="0">
                <a:solidFill>
                  <a:srgbClr val="059669"/>
                </a:solidFill>
                <a:latin typeface="Segoe UI"/>
              </a:rPr>
              <a:t>✔️  THE MEDIDECODE PLATFORM</a:t>
            </a:r>
          </a:p>
          <a:p>
            <a:r>
              <a:rPr sz="1050" b="0" i="0">
                <a:solidFill>
                  <a:srgbClr val="0F172A"/>
                </a:solidFill>
                <a:latin typeface="Segoe UI"/>
              </a:rPr>
              <a:t>
• AI-Assisted Multimodal OCR: Reads printed and cursive text with confidence badges and zero-guessing rules.</a:t>
            </a:r>
          </a:p>
          <a:p>
            <a:r>
              <a:rPr sz="1050" b="0" i="0">
                <a:solidFill>
                  <a:srgbClr val="0F172A"/>
                </a:solidFill>
                <a:latin typeface="Segoe UI"/>
              </a:rPr>
              <a:t>• Plain-Language Clock Timelines: Converts 'BD after food' into concrete 8:00 AM and 8:00 PM alarm slots.</a:t>
            </a:r>
          </a:p>
          <a:p>
            <a:r>
              <a:rPr sz="1050" b="0" i="0">
                <a:solidFill>
                  <a:srgbClr val="0F172A"/>
                </a:solidFill>
                <a:latin typeface="Segoe UI"/>
              </a:rPr>
              <a:t>• 11 Regional Indian Languages: Instructions in Hindi, Bengali, Kannada, Tamil, etc., while preserving INN drug names.</a:t>
            </a:r>
          </a:p>
          <a:p>
            <a:r>
              <a:rPr sz="1050" b="0" i="0">
                <a:solidFill>
                  <a:srgbClr val="0F172A"/>
                </a:solidFill>
                <a:latin typeface="Segoe UI"/>
              </a:rPr>
              <a:t>• Smart Automated Reminders: Web push notifications and 1-tap taken checkoff drive daily treatment adherence.</a:t>
            </a:r>
          </a:p>
          <a:p>
            <a:r>
              <a:rPr sz="1050" b="0" i="0">
                <a:solidFill>
                  <a:srgbClr val="0F172A"/>
                </a:solidFill>
                <a:latin typeface="Segoe UI"/>
              </a:rPr>
              <a:t>• Curated Food &amp; Safety Engine: Proactive alerts on everyday foods to Eat, Limit, or Avoid based on verified BNF data.</a:t>
            </a:r>
          </a:p>
          <a:p>
            <a:r>
              <a:rPr sz="1050" b="0" i="0">
                <a:solidFill>
                  <a:srgbClr val="0F172A"/>
                </a:solidFill>
                <a:latin typeface="Segoe UI"/>
              </a:rPr>
              <a:t>• 'Explain This to Me' Summaries: Translates complicated post-op hospital records into 2-sentence actionable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3108960" cy="292608"/>
          </a:xfrm>
          <a:prstGeom prst="roundRect">
            <a:avLst/>
          </a:prstGeom>
          <a:solidFill>
            <a:srgbClr val="F0FDFA"/>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i="0">
                <a:solidFill>
                  <a:srgbClr val="0D9488"/>
                </a:solidFill>
                <a:latin typeface="Segoe UI"/>
              </a:rPr>
              <a:t>SOCIAL VALUE &amp; REACH</a:t>
            </a:r>
          </a:p>
        </p:txBody>
      </p:sp>
      <p:sp>
        <p:nvSpPr>
          <p:cNvPr id="5" name="TextBox 4"/>
          <p:cNvSpPr txBox="1"/>
          <p:nvPr/>
        </p:nvSpPr>
        <p:spPr>
          <a:xfrm>
            <a:off x="731520" y="640080"/>
            <a:ext cx="10728655" cy="777240"/>
          </a:xfrm>
          <a:prstGeom prst="rect">
            <a:avLst/>
          </a:prstGeom>
          <a:noFill/>
        </p:spPr>
        <p:txBody>
          <a:bodyPr wrap="square">
            <a:spAutoFit/>
          </a:bodyPr>
          <a:lstStyle/>
          <a:p>
            <a:r>
              <a:rPr sz="2600" b="1" i="0">
                <a:solidFill>
                  <a:srgbClr val="0F172A"/>
                </a:solidFill>
                <a:latin typeface="Segoe UI"/>
              </a:rPr>
              <a:t>Real-World Impact &amp; Beneficiaries</a:t>
            </a:r>
          </a:p>
          <a:p>
            <a:r>
              <a:rPr sz="1250" b="0" i="0">
                <a:solidFill>
                  <a:srgbClr val="475569"/>
                </a:solidFill>
                <a:latin typeface="Segoe UI"/>
              </a:rPr>
              <a:t>Empowering patients, families, and healthcare systems across India.</a:t>
            </a:r>
          </a:p>
        </p:txBody>
      </p:sp>
      <p:sp>
        <p:nvSpPr>
          <p:cNvPr id="6" name="Rounded Rectangle 5"/>
          <p:cNvSpPr/>
          <p:nvPr/>
        </p:nvSpPr>
        <p:spPr>
          <a:xfrm>
            <a:off x="731520" y="1645920"/>
            <a:ext cx="10728655" cy="8686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0D9488"/>
                </a:solidFill>
                <a:latin typeface="Segoe UI"/>
              </a:rPr>
              <a:t>“MediDecode helps patients understand and follow healthcare instructions more confidently.”</a:t>
            </a:r>
          </a:p>
        </p:txBody>
      </p:sp>
      <p:sp>
        <p:nvSpPr>
          <p:cNvPr id="7" name="Rounded Rectangle 6"/>
          <p:cNvSpPr/>
          <p:nvPr/>
        </p:nvSpPr>
        <p:spPr>
          <a:xfrm>
            <a:off x="731520" y="2697480"/>
            <a:ext cx="10728655" cy="658368"/>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0D9488"/>
                </a:solidFill>
                <a:latin typeface="Segoe UI"/>
              </a:rPr>
              <a:t>👵 Elderly Patients:  </a:t>
            </a:r>
            <a:r>
              <a:rPr sz="1100">
                <a:solidFill>
                  <a:srgbClr val="0F172A"/>
                </a:solidFill>
                <a:latin typeface="Segoe UI"/>
              </a:rPr>
              <a:t>Large fonts, simple alarm clocks, and zero confusing medical jargon make daily medicine management effortless.</a:t>
            </a:r>
          </a:p>
        </p:txBody>
      </p:sp>
      <p:sp>
        <p:nvSpPr>
          <p:cNvPr id="8" name="Rounded Rectangle 7"/>
          <p:cNvSpPr/>
          <p:nvPr/>
        </p:nvSpPr>
        <p:spPr>
          <a:xfrm>
            <a:off x="731520" y="3447288"/>
            <a:ext cx="10728655" cy="658368"/>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0284C7"/>
                </a:solidFill>
                <a:latin typeface="Segoe UI"/>
              </a:rPr>
              <a:t>👨‍👩‍👧 Families &amp; Caregivers:  </a:t>
            </a:r>
            <a:r>
              <a:rPr sz="1100">
                <a:solidFill>
                  <a:srgbClr val="0F172A"/>
                </a:solidFill>
                <a:latin typeface="Segoe UI"/>
              </a:rPr>
              <a:t>Enables children and relatives to monitor their elderly parents' doses and recovery schedules remotely.</a:t>
            </a:r>
          </a:p>
        </p:txBody>
      </p:sp>
      <p:sp>
        <p:nvSpPr>
          <p:cNvPr id="9" name="Rounded Rectangle 8"/>
          <p:cNvSpPr/>
          <p:nvPr/>
        </p:nvSpPr>
        <p:spPr>
          <a:xfrm>
            <a:off x="731520" y="4197096"/>
            <a:ext cx="10728655" cy="658368"/>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059669"/>
                </a:solidFill>
                <a:latin typeface="Segoe UI"/>
              </a:rPr>
              <a:t>💊 Polypharmacy Patients:  </a:t>
            </a:r>
            <a:r>
              <a:rPr sz="1100">
                <a:solidFill>
                  <a:srgbClr val="0F172A"/>
                </a:solidFill>
                <a:latin typeface="Segoe UI"/>
              </a:rPr>
              <a:t>Chronic patients managing 5+ daily medications get an organized, non-conflicting master timetable.</a:t>
            </a:r>
          </a:p>
        </p:txBody>
      </p:sp>
      <p:sp>
        <p:nvSpPr>
          <p:cNvPr id="10" name="Rounded Rectangle 9"/>
          <p:cNvSpPr/>
          <p:nvPr/>
        </p:nvSpPr>
        <p:spPr>
          <a:xfrm>
            <a:off x="731520" y="4946904"/>
            <a:ext cx="10728655" cy="658368"/>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D97706"/>
                </a:solidFill>
                <a:latin typeface="Segoe UI"/>
              </a:rPr>
              <a:t>🇮🇳 Regional-Language Users:  </a:t>
            </a:r>
            <a:r>
              <a:rPr sz="1100">
                <a:solidFill>
                  <a:srgbClr val="0F172A"/>
                </a:solidFill>
                <a:latin typeface="Segoe UI"/>
              </a:rPr>
              <a:t>Removes English literacy barriers, democratizing healthcare accessibility across Tier 2, 3, and rural India.</a:t>
            </a:r>
          </a:p>
        </p:txBody>
      </p:sp>
      <p:sp>
        <p:nvSpPr>
          <p:cNvPr id="11" name="Rounded Rectangle 10"/>
          <p:cNvSpPr/>
          <p:nvPr/>
        </p:nvSpPr>
        <p:spPr>
          <a:xfrm>
            <a:off x="731520" y="5696712"/>
            <a:ext cx="10728655" cy="658368"/>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E11D48"/>
                </a:solidFill>
                <a:latin typeface="Segoe UI"/>
              </a:rPr>
              <a:t>🏥 Hospital Discharge Patients:  </a:t>
            </a:r>
            <a:r>
              <a:rPr sz="1100">
                <a:solidFill>
                  <a:srgbClr val="0F172A"/>
                </a:solidFill>
                <a:latin typeface="Segoe UI"/>
              </a:rPr>
              <a:t>Clear post-surgery wound care and dietary guidelines prevent avoidable emergency readmissions.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3108960" cy="292608"/>
          </a:xfrm>
          <a:prstGeom prst="roundRect">
            <a:avLst/>
          </a:prstGeom>
          <a:solidFill>
            <a:srgbClr val="F0FDFA"/>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i="0">
                <a:solidFill>
                  <a:srgbClr val="0D9488"/>
                </a:solidFill>
                <a:latin typeface="Segoe UI"/>
              </a:rPr>
              <a:t>ROADMAP &amp; VISION</a:t>
            </a:r>
          </a:p>
        </p:txBody>
      </p:sp>
      <p:sp>
        <p:nvSpPr>
          <p:cNvPr id="5" name="TextBox 4"/>
          <p:cNvSpPr txBox="1"/>
          <p:nvPr/>
        </p:nvSpPr>
        <p:spPr>
          <a:xfrm>
            <a:off x="731520" y="640080"/>
            <a:ext cx="10728655" cy="777240"/>
          </a:xfrm>
          <a:prstGeom prst="rect">
            <a:avLst/>
          </a:prstGeom>
          <a:noFill/>
        </p:spPr>
        <p:txBody>
          <a:bodyPr wrap="square">
            <a:spAutoFit/>
          </a:bodyPr>
          <a:lstStyle/>
          <a:p>
            <a:r>
              <a:rPr sz="2600" b="1" i="0">
                <a:solidFill>
                  <a:srgbClr val="0F172A"/>
                </a:solidFill>
                <a:latin typeface="Segoe UI"/>
              </a:rPr>
              <a:t>Future Scope &amp; Vision for MediDecode</a:t>
            </a:r>
          </a:p>
          <a:p>
            <a:r>
              <a:rPr sz="1250" b="0" i="0">
                <a:solidFill>
                  <a:srgbClr val="475569"/>
                </a:solidFill>
                <a:latin typeface="Segoe UI"/>
              </a:rPr>
              <a:t>Scaling MediDecode into a comprehensive universal health companion.</a:t>
            </a:r>
          </a:p>
        </p:txBody>
      </p:sp>
      <p:sp>
        <p:nvSpPr>
          <p:cNvPr id="6" name="Rounded Rectangle 5"/>
          <p:cNvSpPr/>
          <p:nvPr/>
        </p:nvSpPr>
        <p:spPr>
          <a:xfrm>
            <a:off x="731520" y="1645920"/>
            <a:ext cx="6217920" cy="46634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400" b="1" i="0">
                <a:solidFill>
                  <a:srgbClr val="0D9488"/>
                </a:solidFill>
                <a:latin typeface="Segoe UI"/>
              </a:rPr>
              <a:t>🚀  FUTURE INNOVATION ROADMAP</a:t>
            </a:r>
          </a:p>
          <a:p>
            <a:r>
              <a:rPr sz="1050" b="0" i="0">
                <a:solidFill>
                  <a:srgbClr val="0F172A"/>
                </a:solidFill>
                <a:latin typeface="Segoe UI"/>
              </a:rPr>
              <a:t>
• Voice Assistant &amp; Audio Readout: Natural voice instructions in 11 languages for illiterate or visually impaired patients.</a:t>
            </a:r>
          </a:p>
          <a:p>
            <a:r>
              <a:rPr sz="1050" b="0" i="0">
                <a:solidFill>
                  <a:srgbClr val="0F172A"/>
                </a:solidFill>
                <a:latin typeface="Segoe UI"/>
              </a:rPr>
              <a:t>• 22 Official Indian Languages: Expanding vernacular dialect coverage across all Indian states.</a:t>
            </a:r>
          </a:p>
          <a:p>
            <a:r>
              <a:rPr sz="1050" b="0" i="0">
                <a:solidFill>
                  <a:srgbClr val="0F172A"/>
                </a:solidFill>
                <a:latin typeface="Segoe UI"/>
              </a:rPr>
              <a:t>• Doctor &amp; Pharmacist Verification Portal: Enables local chemists to verify flagged cursive medicines in 1-click.</a:t>
            </a:r>
          </a:p>
          <a:p>
            <a:r>
              <a:rPr sz="1050" b="0" i="0">
                <a:solidFill>
                  <a:srgbClr val="0F172A"/>
                </a:solidFill>
                <a:latin typeface="Segoe UI"/>
              </a:rPr>
              <a:t>• Dedicated Caregiver Companion App: Real-time alerts to family members if an elderly patient misses an insulin or BP dose.</a:t>
            </a:r>
          </a:p>
          <a:p>
            <a:r>
              <a:rPr sz="1050" b="0" i="0">
                <a:solidFill>
                  <a:srgbClr val="0F172A"/>
                </a:solidFill>
                <a:latin typeface="Segoe UI"/>
              </a:rPr>
              <a:t>• Wearable &amp; Smartwatch Integration: Haptic wrist buzzers for discrete, timely medication alerts on smart bands.</a:t>
            </a:r>
          </a:p>
          <a:p>
            <a:r>
              <a:rPr sz="1050" b="0" i="0">
                <a:solidFill>
                  <a:srgbClr val="0F172A"/>
                </a:solidFill>
                <a:latin typeface="Segoe UI"/>
              </a:rPr>
              <a:t>• ABDM &amp; EMR Integration: Seamless sync with Ayushman Bharat Digital Mission and electronic health records.</a:t>
            </a:r>
          </a:p>
        </p:txBody>
      </p:sp>
      <p:sp>
        <p:nvSpPr>
          <p:cNvPr id="7" name="Rounded Rectangle 6"/>
          <p:cNvSpPr/>
          <p:nvPr/>
        </p:nvSpPr>
        <p:spPr>
          <a:xfrm>
            <a:off x="7223760" y="1645920"/>
            <a:ext cx="4236415" cy="4663440"/>
          </a:xfrm>
          <a:prstGeom prst="roundRect">
            <a:avLst/>
          </a:prstGeom>
          <a:solidFill>
            <a:srgbClr val="F0FDFA"/>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600" b="1" i="0">
                <a:solidFill>
                  <a:srgbClr val="0F172A"/>
                </a:solidFill>
                <a:latin typeface="Segoe UI"/>
              </a:rPr>
              <a:t>🩺
MediDecode</a:t>
            </a:r>
          </a:p>
          <a:p>
            <a:pPr algn="ctr"/>
            <a:r>
              <a:rPr sz="1350" b="1" i="1">
                <a:solidFill>
                  <a:srgbClr val="0D9488"/>
                </a:solidFill>
                <a:latin typeface="Segoe UI"/>
              </a:rPr>
              <a:t>“Decode. Understand. Remember. Stay Safe.”</a:t>
            </a:r>
          </a:p>
          <a:p>
            <a:pPr algn="ctr"/>
            <a:r>
              <a:rPr sz="1150" b="0" i="0">
                <a:solidFill>
                  <a:srgbClr val="1E293B"/>
                </a:solidFill>
                <a:latin typeface="Segoe UI"/>
              </a:rPr>
              <a:t>
Thank you respected judges and professors for your time and guidance.</a:t>
            </a:r>
          </a:p>
          <a:p>
            <a:pPr algn="ctr"/>
            <a:r>
              <a:rPr sz="1500" b="1" i="0">
                <a:solidFill>
                  <a:srgbClr val="D97706"/>
                </a:solidFill>
                <a:latin typeface="Segoe UI"/>
              </a:rPr>
              <a:t>
We are now open for
Questions &amp; Answers / Live 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